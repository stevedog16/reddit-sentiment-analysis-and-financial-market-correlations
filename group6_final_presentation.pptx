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2_D22ECF0F.xml" ContentType="application/vnd.ms-powerpoint.comments+xml"/>
  <Override PartName="/ppt/notesSlides/notesSlide3.xml" ContentType="application/vnd.openxmlformats-officedocument.presentationml.notesSlide+xml"/>
  <Override PartName="/ppt/comments/modernComment_103_9F6BEBD0.xml" ContentType="application/vnd.ms-powerpoint.comments+xml"/>
  <Override PartName="/ppt/notesSlides/notesSlide4.xml" ContentType="application/vnd.openxmlformats-officedocument.presentationml.notesSlide+xml"/>
  <Override PartName="/ppt/comments/modernComment_104_35840897.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9_85116E61.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06_BD22871B.xml" ContentType="application/vnd.ms-powerpoint.comments+xml"/>
  <Override PartName="/ppt/notesSlides/notesSlide15.xml" ContentType="application/vnd.openxmlformats-officedocument.presentationml.notesSlide+xml"/>
  <Override PartName="/ppt/comments/modernComment_107_FAF4FFBE.xml" ContentType="application/vnd.ms-powerpoint.comments+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9"/>
  </p:notesMasterIdLst>
  <p:sldIdLst>
    <p:sldId id="256" r:id="rId2"/>
    <p:sldId id="258" r:id="rId3"/>
    <p:sldId id="259" r:id="rId4"/>
    <p:sldId id="260" r:id="rId5"/>
    <p:sldId id="267" r:id="rId6"/>
    <p:sldId id="265" r:id="rId7"/>
    <p:sldId id="271" r:id="rId8"/>
    <p:sldId id="275" r:id="rId9"/>
    <p:sldId id="276" r:id="rId10"/>
    <p:sldId id="277" r:id="rId11"/>
    <p:sldId id="273" r:id="rId12"/>
    <p:sldId id="270" r:id="rId13"/>
    <p:sldId id="272" r:id="rId14"/>
    <p:sldId id="262" r:id="rId15"/>
    <p:sldId id="263" r:id="rId16"/>
    <p:sldId id="269"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54810F-1CD3-821C-F248-D238E4EFCCDB}" name="Dhungel,Sukriti" initials="Dh" userId="S::sd3625@drexel.edu::6dfff039-4ae7-4caa-958e-47c3f53220cf" providerId="AD"/>
  <p188:author id="{A8408E22-C11E-389A-DF2D-8E38655A0260}" name="Nguyen,Steven" initials="" userId="S::sn924@drexel.edu::a11f58ed-b4a7-46f1-b1c3-ea9182ae79c1" providerId="AD"/>
  <p188:author id="{CDAFF846-1BA2-43AF-D5F5-6159EF7DA415}" name="So,Vincent" initials="" userId="S::vs634@drexel.edu::641dfe93-ccd4-46a7-a710-53ba25975c32" providerId="AD"/>
  <p188:author id="{45FD944F-5C4E-9A01-1136-51827B3C3D0A}" name="Tagore,Shailyshreyee" initials="" userId="S::st3334@drexel.edu::a7100f16-9809-4661-82e8-c1948558d216" providerId="AD"/>
  <p188:author id="{2481CBD5-AE65-9DBC-7EC7-DE0DCA299010}" name="Ong,Janhi" initials="" userId="S::jo659@drexel.edu::1ed81480-c8f6-4949-9678-93f46b31c64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7302B"/>
    <a:srgbClr val="FCF7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8241C7-7E7B-BA79-CD9A-C659080B9E97}" v="457" dt="2025-08-25T03:09:26.827"/>
    <p1510:client id="{3D7FF580-7AA3-9B3F-72BC-9435FF44F823}" v="4" dt="2025-08-25T04:10:21.777"/>
    <p1510:client id="{400085EB-FC7B-3DD6-CAD4-653A8A8B4B22}" v="151" dt="2025-08-25T17:03:36.989"/>
    <p1510:client id="{4151A223-2187-A6ED-0C8B-AAD97529744D}" v="1764" dt="2025-08-25T16:49:14.694"/>
    <p1510:client id="{437671EE-2F11-FAC9-6983-4834B9EEABD9}" v="106" dt="2025-08-25T17:04:33.332"/>
    <p1510:client id="{5F2DB5E3-784F-B6E9-366B-86BFCF5D885F}" v="11" dt="2025-08-24T20:11:16.852"/>
    <p1510:client id="{7082FAEA-BBA5-FD54-3856-A3E34628E2E5}" v="16" dt="2025-08-25T18:45:09.936"/>
    <p1510:client id="{740E3C92-1871-8889-10BF-3D756B5D11E1}" v="445" dt="2025-08-25T18:37:45.562"/>
    <p1510:client id="{7FEF74C3-5F34-437D-9CDC-D728694A62A4}" v="70" dt="2025-08-25T19:43:15.463"/>
    <p1510:client id="{8BA8DE2E-5F3B-786F-3E69-5CED75F7CC86}" v="811" dt="2025-08-25T15:11:05.122"/>
    <p1510:client id="{9325E0EA-8CD1-287A-5796-2BAD28430F7B}" v="163" dt="2025-08-25T16:28:37.376"/>
    <p1510:client id="{E7B8272E-4BCA-CF8A-7BB8-7344E1A9A61F}" v="584" dt="2025-08-25T16:36:46.839"/>
    <p1510:client id="{FA4B27A2-B86B-BAD5-D386-4BE985F632B8}" v="451" dt="2025-08-25T03:23:21.940"/>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84" y="3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modernComment_102_D22ECF0F.xml><?xml version="1.0" encoding="utf-8"?>
<p188:cmLst xmlns:a="http://schemas.openxmlformats.org/drawingml/2006/main" xmlns:r="http://schemas.openxmlformats.org/officeDocument/2006/relationships" xmlns:p188="http://schemas.microsoft.com/office/powerpoint/2018/8/main">
  <p188:cm id="{F4657929-373D-4F01-9853-01DA7018DA9B}" authorId="{5054810F-1CD3-821C-F248-D238E4EFCCDB}" status="resolved" created="2025-07-10T22:21:10.435" startDate="2025-07-10T22:21:10.435" dueDate="2025-07-10T22:21:10.435" assignedTo="{5054810F-1CD3-821C-F248-D238E4EFCCDB}" complete="100000" title="@Dhungel,Sukriti">
    <pc:sldMkLst xmlns:pc="http://schemas.microsoft.com/office/powerpoint/2013/main/command">
      <pc:docMk/>
      <pc:sldMk cId="3526283023" sldId="258"/>
    </pc:sldMkLst>
    <p188:txBody>
      <a:bodyPr/>
      <a:lstStyle/>
      <a:p>
        <a:r>
          <a:rPr lang="en-US"/>
          <a:t>[@Dhungel,Sukriti] </a:t>
        </a:r>
      </a:p>
    </p188:txBody>
    <p188:extLst>
      <p:ext xmlns:p="http://schemas.openxmlformats.org/presentationml/2006/main" uri="{5BB2D875-25FF-4072-B9AC-8F64D62656EB}">
        <p228:taskDetails xmlns:p228="http://schemas.microsoft.com/office/powerpoint/2022/08/main">
          <p228:history>
            <p228:event time="2025-07-10T22:21:10.435" id="{05AEBE01-DBEC-4CF1-84A3-D46AD616D104}">
              <p228:atrbtn authorId="{5054810F-1CD3-821C-F248-D238E4EFCCDB}"/>
              <p228:anchr>
                <p228:comment id="{F4657929-373D-4F01-9853-01DA7018DA9B}"/>
              </p228:anchr>
              <p228:add/>
            </p228:event>
            <p228:event time="2025-07-10T22:21:10.435" id="{A53AFB52-8561-439F-A292-D23CDCA03E77}">
              <p228:atrbtn authorId="{5054810F-1CD3-821C-F248-D238E4EFCCDB}"/>
              <p228:anchr>
                <p228:comment id="{F4657929-373D-4F01-9853-01DA7018DA9B}"/>
              </p228:anchr>
              <p228:asgn authorId="{5054810F-1CD3-821C-F248-D238E4EFCCDB}"/>
            </p228:event>
            <p228:event time="2025-07-10T22:21:10.435" id="{D0AB74A2-FC80-4FF7-BE4D-66E05CE749E4}">
              <p228:atrbtn authorId="{5054810F-1CD3-821C-F248-D238E4EFCCDB}"/>
              <p228:anchr>
                <p228:comment id="{F4657929-373D-4F01-9853-01DA7018DA9B}"/>
              </p228:anchr>
              <p228:title val="@Dhungel,Sukriti"/>
            </p228:event>
            <p228:event time="2025-07-10T22:21:10.435" id="{21F7DBDE-766B-49F9-B978-A0649FC4B941}">
              <p228:atrbtn authorId="{5054810F-1CD3-821C-F248-D238E4EFCCDB}"/>
              <p228:anchr>
                <p228:comment id="{F4657929-373D-4F01-9853-01DA7018DA9B}"/>
              </p228:anchr>
              <p228:date stDt="2025-07-10T22:21:10.435" endDt="2025-07-10T22:21:10.435"/>
            </p228:event>
            <p228:event time="2025-07-21T14:15:23.536" id="{88D15080-A2F0-46BF-AA81-40E5C19544D9}">
              <p228:atrbtn authorId="{5054810F-1CD3-821C-F248-D238E4EFCCDB}"/>
              <p228:anchr>
                <p228:comment id="{00000000-0000-0000-0000-000000000000}"/>
              </p228:anchr>
              <p228:pcntCmplt val="100000"/>
            </p228:event>
          </p228:history>
        </p228:taskDetails>
      </p:ext>
    </p188:extLst>
  </p188:cm>
</p188:cmLst>
</file>

<file path=ppt/comments/modernComment_103_9F6BEBD0.xml><?xml version="1.0" encoding="utf-8"?>
<p188:cmLst xmlns:a="http://schemas.openxmlformats.org/drawingml/2006/main" xmlns:r="http://schemas.openxmlformats.org/officeDocument/2006/relationships" xmlns:p188="http://schemas.microsoft.com/office/powerpoint/2018/8/main">
  <p188:cm id="{5A70E113-2472-42FC-BCBC-4F584F17735C}" authorId="{5054810F-1CD3-821C-F248-D238E4EFCCDB}" created="2025-08-24T00:19:54.062" startDate="2025-08-24T00:19:54.062" dueDate="2025-08-24T00:19:54.062" assignedTo="{45FD944F-5C4E-9A01-1136-51827B3C3D0A}" title="@Tagore,Shailyshreyee">
    <pc:sldMkLst xmlns:pc="http://schemas.microsoft.com/office/powerpoint/2013/main/command">
      <pc:docMk/>
      <pc:sldMk cId="2674650064" sldId="259"/>
    </pc:sldMkLst>
    <p188:txBody>
      <a:bodyPr/>
      <a:lstStyle/>
      <a:p>
        <a:r>
          <a:rPr lang="en-US"/>
          <a:t>[@Tagore,Shailyshreyee] </a:t>
        </a:r>
      </a:p>
    </p188:txBody>
    <p188:extLst>
      <p:ext xmlns:p="http://schemas.openxmlformats.org/presentationml/2006/main" uri="{5BB2D875-25FF-4072-B9AC-8F64D62656EB}">
        <p228:taskDetails xmlns:p228="http://schemas.microsoft.com/office/powerpoint/2022/08/main">
          <p228:history>
            <p228:event time="2025-08-24T00:19:54.062" id="{931A07F9-D268-4EC0-9A0E-AC4360674A0C}">
              <p228:atrbtn authorId="{5054810F-1CD3-821C-F248-D238E4EFCCDB}"/>
              <p228:anchr>
                <p228:comment id="{5A70E113-2472-42FC-BCBC-4F584F17735C}"/>
              </p228:anchr>
              <p228:add/>
            </p228:event>
            <p228:event time="2025-08-24T00:19:54.062" id="{D5B80861-B437-487B-A09B-6A5865D7CD80}">
              <p228:atrbtn authorId="{5054810F-1CD3-821C-F248-D238E4EFCCDB}"/>
              <p228:anchr>
                <p228:comment id="{5A70E113-2472-42FC-BCBC-4F584F17735C}"/>
              </p228:anchr>
              <p228:asgn authorId="{45FD944F-5C4E-9A01-1136-51827B3C3D0A}"/>
            </p228:event>
            <p228:event time="2025-08-24T00:19:54.062" id="{1B3DF65B-3AA9-4349-86A4-48A2DCB1D21E}">
              <p228:atrbtn authorId="{5054810F-1CD3-821C-F248-D238E4EFCCDB}"/>
              <p228:anchr>
                <p228:comment id="{5A70E113-2472-42FC-BCBC-4F584F17735C}"/>
              </p228:anchr>
              <p228:title val="@Tagore,Shailyshreyee"/>
            </p228:event>
            <p228:event time="2025-08-24T00:19:54.062" id="{160F04E1-6F62-4C79-BEE3-BA5DE0163653}">
              <p228:atrbtn authorId="{5054810F-1CD3-821C-F248-D238E4EFCCDB}"/>
              <p228:anchr>
                <p228:comment id="{5A70E113-2472-42FC-BCBC-4F584F17735C}"/>
              </p228:anchr>
              <p228:date stDt="2025-08-24T00:19:54.062" endDt="2025-08-24T00:19:54.062"/>
            </p228:event>
          </p228:history>
        </p228:taskDetails>
      </p:ext>
    </p188:extLst>
  </p188:cm>
</p188:cmLst>
</file>

<file path=ppt/comments/modernComment_104_35840897.xml><?xml version="1.0" encoding="utf-8"?>
<p188:cmLst xmlns:a="http://schemas.openxmlformats.org/drawingml/2006/main" xmlns:r="http://schemas.openxmlformats.org/officeDocument/2006/relationships" xmlns:p188="http://schemas.microsoft.com/office/powerpoint/2018/8/main">
  <p188:cm id="{2A66F19F-F6FF-49F3-ACF1-28EC2E8CF784}" authorId="{5054810F-1CD3-821C-F248-D238E4EFCCDB}" created="2025-08-24T00:20:40.298">
    <pc:sldMkLst xmlns:pc="http://schemas.microsoft.com/office/powerpoint/2013/main/command">
      <pc:docMk/>
      <pc:sldMk cId="897845399" sldId="260"/>
    </pc:sldMkLst>
    <p188:txBody>
      <a:bodyPr/>
      <a:lstStyle/>
      <a:p>
        <a:r>
          <a:rPr lang="en-US"/>
          <a:t>[@Nguyen,Steven] [@So,Vincent] [@Ong,Janhi] </a:t>
        </a:r>
      </a:p>
    </p188:txBody>
  </p188:cm>
</p188:cmLst>
</file>

<file path=ppt/comments/modernComment_106_BD22871B.xml><?xml version="1.0" encoding="utf-8"?>
<p188:cmLst xmlns:a="http://schemas.openxmlformats.org/drawingml/2006/main" xmlns:r="http://schemas.openxmlformats.org/officeDocument/2006/relationships" xmlns:p188="http://schemas.microsoft.com/office/powerpoint/2018/8/main">
  <p188:cm id="{0E62B726-EEED-459F-8EBA-53E9F40F8F66}" authorId="{5054810F-1CD3-821C-F248-D238E4EFCCDB}" created="2025-08-24T00:22:13.770">
    <pc:sldMkLst xmlns:pc="http://schemas.microsoft.com/office/powerpoint/2013/main/command">
      <pc:docMk/>
      <pc:sldMk cId="3173156635" sldId="262"/>
    </pc:sldMkLst>
    <p188:txBody>
      <a:bodyPr/>
      <a:lstStyle/>
      <a:p>
        <a:r>
          <a:rPr lang="en-US"/>
          <a:t>[@Dhungel,Sukriti] </a:t>
        </a:r>
      </a:p>
    </p188:txBody>
  </p188:cm>
</p188:cmLst>
</file>

<file path=ppt/comments/modernComment_107_FAF4FFBE.xml><?xml version="1.0" encoding="utf-8"?>
<p188:cmLst xmlns:a="http://schemas.openxmlformats.org/drawingml/2006/main" xmlns:r="http://schemas.openxmlformats.org/officeDocument/2006/relationships" xmlns:p188="http://schemas.microsoft.com/office/powerpoint/2018/8/main">
  <p188:cm id="{BBF626B8-1D97-46EB-B89A-0E694C68EFDA}" authorId="{5054810F-1CD3-821C-F248-D238E4EFCCDB}" status="resolved" created="2025-07-10T22:22:08.687" startDate="2025-07-10T22:22:08.687" dueDate="2025-07-10T22:22:08.687" assignedTo="{5054810F-1CD3-821C-F248-D238E4EFCCDB}" complete="100000" title="@Dhungel,Sukriti">
    <ac:deMkLst xmlns:ac="http://schemas.microsoft.com/office/drawing/2013/main/command">
      <pc:docMk xmlns:pc="http://schemas.microsoft.com/office/powerpoint/2013/main/command"/>
      <pc:sldMk xmlns:pc="http://schemas.microsoft.com/office/powerpoint/2013/main/command" cId="4210360254" sldId="263"/>
      <ac:spMk id="2" creationId="{6A01751A-E74A-D082-082C-C30C48F54330}"/>
    </ac:deMkLst>
    <p188:txBody>
      <a:bodyPr/>
      <a:lstStyle/>
      <a:p>
        <a:r>
          <a:rPr lang="en-US"/>
          <a:t>[@Dhungel,Sukriti] </a:t>
        </a:r>
      </a:p>
    </p188:txBody>
    <p188:extLst>
      <p:ext xmlns:p="http://schemas.openxmlformats.org/presentationml/2006/main" uri="{5BB2D875-25FF-4072-B9AC-8F64D62656EB}">
        <p228:taskDetails xmlns:p228="http://schemas.microsoft.com/office/powerpoint/2022/08/main">
          <p228:history>
            <p228:event time="2025-07-10T22:22:08.687" id="{BAEA5414-E3DA-4C85-B4F3-9948390A5111}">
              <p228:atrbtn authorId="{5054810F-1CD3-821C-F248-D238E4EFCCDB}"/>
              <p228:anchr>
                <p228:comment id="{BBF626B8-1D97-46EB-B89A-0E694C68EFDA}"/>
              </p228:anchr>
              <p228:add/>
            </p228:event>
            <p228:event time="2025-07-10T22:22:08.687" id="{19680ABA-2DB7-4F13-B251-256B5456E991}">
              <p228:atrbtn authorId="{5054810F-1CD3-821C-F248-D238E4EFCCDB}"/>
              <p228:anchr>
                <p228:comment id="{BBF626B8-1D97-46EB-B89A-0E694C68EFDA}"/>
              </p228:anchr>
              <p228:asgn authorId="{5054810F-1CD3-821C-F248-D238E4EFCCDB}"/>
            </p228:event>
            <p228:event time="2025-07-10T22:22:08.687" id="{4BFF35EC-96B4-4BAC-82A2-7FB239576FFE}">
              <p228:atrbtn authorId="{5054810F-1CD3-821C-F248-D238E4EFCCDB}"/>
              <p228:anchr>
                <p228:comment id="{BBF626B8-1D97-46EB-B89A-0E694C68EFDA}"/>
              </p228:anchr>
              <p228:title val="@Dhungel,Sukriti"/>
            </p228:event>
            <p228:event time="2025-07-10T22:22:08.687" id="{BBBAE5C0-9790-4309-B235-5BCE4E5C1C4C}">
              <p228:atrbtn authorId="{5054810F-1CD3-821C-F248-D238E4EFCCDB}"/>
              <p228:anchr>
                <p228:comment id="{BBF626B8-1D97-46EB-B89A-0E694C68EFDA}"/>
              </p228:anchr>
              <p228:date stDt="2025-07-10T22:22:08.687" endDt="2025-07-10T22:22:08.687"/>
            </p228:event>
            <p228:event time="2025-07-21T20:06:19.664" id="{D62F87E1-00B6-4860-9836-4894C02452BD}">
              <p228:atrbtn authorId="{5054810F-1CD3-821C-F248-D238E4EFCCDB}"/>
              <p228:anchr>
                <p228:comment id="{00000000-0000-0000-0000-000000000000}"/>
              </p228:anchr>
              <p228:pcntCmplt val="100000"/>
            </p228:event>
          </p228:history>
        </p228:taskDetails>
      </p:ext>
    </p188:extLst>
  </p188:cm>
  <p188:cm id="{5FF2AD26-D74A-4255-8FDD-E54DEE9EFEA7}" authorId="{A8408E22-C11E-389A-DF2D-8E38655A0260}" created="2025-08-25T17:57:51.892" startDate="2025-08-25T17:57:51.892" dueDate="2025-08-25T17:57:51.892" assignedTo="{A8408E22-C11E-389A-DF2D-8E38655A0260}" title="@Nguyen,Steven">
    <pc:sldMkLst xmlns:pc="http://schemas.microsoft.com/office/powerpoint/2013/main/command">
      <pc:docMk/>
      <pc:sldMk cId="4210360254" sldId="263"/>
    </pc:sldMkLst>
    <p188:txBody>
      <a:bodyPr/>
      <a:lstStyle/>
      <a:p>
        <a:r>
          <a:rPr lang="en-US"/>
          <a:t>[@Nguyen,Steven] </a:t>
        </a:r>
      </a:p>
    </p188:txBody>
    <p188:extLst>
      <p:ext xmlns:p="http://schemas.openxmlformats.org/presentationml/2006/main" uri="{5BB2D875-25FF-4072-B9AC-8F64D62656EB}">
        <p228:taskDetails xmlns:p228="http://schemas.microsoft.com/office/powerpoint/2022/08/main">
          <p228:history>
            <p228:event time="2025-08-25T17:57:51.892" id="{BC48AF1A-54AB-47FA-8180-B62DB8631D46}">
              <p228:atrbtn authorId="{A8408E22-C11E-389A-DF2D-8E38655A0260}"/>
              <p228:anchr>
                <p228:comment id="{5FF2AD26-D74A-4255-8FDD-E54DEE9EFEA7}"/>
              </p228:anchr>
              <p228:add/>
            </p228:event>
            <p228:event time="2025-08-25T17:57:51.892" id="{D1FF7CBD-ECDD-4408-9F23-7B6988279C02}">
              <p228:atrbtn authorId="{A8408E22-C11E-389A-DF2D-8E38655A0260}"/>
              <p228:anchr>
                <p228:comment id="{5FF2AD26-D74A-4255-8FDD-E54DEE9EFEA7}"/>
              </p228:anchr>
              <p228:asgn authorId="{A8408E22-C11E-389A-DF2D-8E38655A0260}"/>
            </p228:event>
            <p228:event time="2025-08-25T17:57:51.892" id="{C5561806-8BDA-428D-A469-5D4D9BFFFB14}">
              <p228:atrbtn authorId="{A8408E22-C11E-389A-DF2D-8E38655A0260}"/>
              <p228:anchr>
                <p228:comment id="{5FF2AD26-D74A-4255-8FDD-E54DEE9EFEA7}"/>
              </p228:anchr>
              <p228:title val="@Nguyen,Steven"/>
            </p228:event>
            <p228:event time="2025-08-25T17:57:51.892" id="{48A93300-B414-4FFB-8885-C8DCF4BC7B52}">
              <p228:atrbtn authorId="{A8408E22-C11E-389A-DF2D-8E38655A0260}"/>
              <p228:anchr>
                <p228:comment id="{5FF2AD26-D74A-4255-8FDD-E54DEE9EFEA7}"/>
              </p228:anchr>
              <p228:date stDt="2025-08-25T17:57:51.892" endDt="2025-08-25T17:57:51.892"/>
            </p228:event>
          </p228:history>
        </p228:taskDetails>
      </p:ext>
    </p188:extLst>
  </p188:cm>
</p188:cmLst>
</file>

<file path=ppt/comments/modernComment_109_85116E61.xml><?xml version="1.0" encoding="utf-8"?>
<p188:cmLst xmlns:a="http://schemas.openxmlformats.org/drawingml/2006/main" xmlns:r="http://schemas.openxmlformats.org/officeDocument/2006/relationships" xmlns:p188="http://schemas.microsoft.com/office/powerpoint/2018/8/main">
  <p188:cm id="{DDBCFCCC-3743-4809-9A5E-127AA27E21F7}" authorId="{5054810F-1CD3-821C-F248-D238E4EFCCDB}" created="2025-08-24T00:22:00.082">
    <pc:sldMkLst xmlns:pc="http://schemas.microsoft.com/office/powerpoint/2013/main/command">
      <pc:docMk/>
      <pc:sldMk cId="2232512097" sldId="265"/>
    </pc:sldMkLst>
    <p188:txBody>
      <a:bodyPr/>
      <a:lstStyle/>
      <a:p>
        <a:r>
          <a:rPr lang="en-US"/>
          <a:t>[@Ong,Janhi] [@Dhungel,Sukriti] </a:t>
        </a:r>
      </a:p>
    </p188:txBody>
  </p188:cm>
  <p188:cm id="{6851A219-CAC3-43C5-A4DC-95F84192F0FA}" authorId="{A8408E22-C11E-389A-DF2D-8E38655A0260}" created="2025-08-25T17:58:06.235" startDate="2025-08-25T17:58:06.235" dueDate="2025-08-25T17:58:06.235" assignedTo="{A8408E22-C11E-389A-DF2D-8E38655A0260}" title="@Nguyen,Steven">
    <pc:sldMkLst xmlns:pc="http://schemas.microsoft.com/office/powerpoint/2013/main/command">
      <pc:docMk/>
      <pc:sldMk cId="2232512097" sldId="265"/>
    </pc:sldMkLst>
    <p188:txBody>
      <a:bodyPr/>
      <a:lstStyle/>
      <a:p>
        <a:r>
          <a:rPr lang="en-US"/>
          <a:t>[@Nguyen,Steven] </a:t>
        </a:r>
      </a:p>
    </p188:txBody>
    <p188:extLst>
      <p:ext xmlns:p="http://schemas.openxmlformats.org/presentationml/2006/main" uri="{5BB2D875-25FF-4072-B9AC-8F64D62656EB}">
        <p228:taskDetails xmlns:p228="http://schemas.microsoft.com/office/powerpoint/2022/08/main">
          <p228:history>
            <p228:event time="2025-08-25T17:58:06.235" id="{B2EE7F4D-8F4B-4622-BB47-795507345BF1}">
              <p228:atrbtn authorId="{A8408E22-C11E-389A-DF2D-8E38655A0260}"/>
              <p228:anchr>
                <p228:comment id="{6851A219-CAC3-43C5-A4DC-95F84192F0FA}"/>
              </p228:anchr>
              <p228:add/>
            </p228:event>
            <p228:event time="2025-08-25T17:58:06.235" id="{93403D68-C3DC-47DF-B911-BE7A89E7C22B}">
              <p228:atrbtn authorId="{A8408E22-C11E-389A-DF2D-8E38655A0260}"/>
              <p228:anchr>
                <p228:comment id="{6851A219-CAC3-43C5-A4DC-95F84192F0FA}"/>
              </p228:anchr>
              <p228:asgn authorId="{A8408E22-C11E-389A-DF2D-8E38655A0260}"/>
            </p228:event>
            <p228:event time="2025-08-25T17:58:06.235" id="{C69A2BEE-A143-41DA-9E07-E0072EE56866}">
              <p228:atrbtn authorId="{A8408E22-C11E-389A-DF2D-8E38655A0260}"/>
              <p228:anchr>
                <p228:comment id="{6851A219-CAC3-43C5-A4DC-95F84192F0FA}"/>
              </p228:anchr>
              <p228:title val="@Nguyen,Steven"/>
            </p228:event>
            <p228:event time="2025-08-25T17:58:06.235" id="{0413487F-B166-48D4-86AC-2BFA025B3C85}">
              <p228:atrbtn authorId="{A8408E22-C11E-389A-DF2D-8E38655A0260}"/>
              <p228:anchr>
                <p228:comment id="{6851A219-CAC3-43C5-A4DC-95F84192F0FA}"/>
              </p228:anchr>
              <p228:date stDt="2025-08-25T17:58:06.235" endDt="2025-08-25T17:58:06.235"/>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719EB-24C1-4530-8A81-3F205318D3FE}" type="datetimeFigureOut">
              <a:t>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41DF1D-C009-40D8-90FC-01E666AA180B}" type="slidenum">
              <a:t>‹#›</a:t>
            </a:fld>
            <a:endParaRPr lang="en-US"/>
          </a:p>
        </p:txBody>
      </p:sp>
    </p:spTree>
    <p:extLst>
      <p:ext uri="{BB962C8B-B14F-4D97-AF65-F5344CB8AC3E}">
        <p14:creationId xmlns:p14="http://schemas.microsoft.com/office/powerpoint/2010/main" val="749996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Vincent: </a:t>
            </a:r>
          </a:p>
          <a:p>
            <a:r>
              <a:rPr lang="en-US" dirty="0">
                <a:ea typeface="Calibri"/>
                <a:cs typeface="Calibri"/>
              </a:rPr>
              <a:t>"Hello everyone, we will be presenting our work on Reddit Sentiment Analysis and Financial Market Correlations. This project explores how NLP-derived signals can be leveraged for financial prediction, testing whether textual sentiment can anticipate or explain movements in the market."</a:t>
            </a:r>
            <a:endParaRPr lang="en-US" dirty="0"/>
          </a:p>
        </p:txBody>
      </p:sp>
      <p:sp>
        <p:nvSpPr>
          <p:cNvPr id="4" name="Slide Number Placeholder 3"/>
          <p:cNvSpPr>
            <a:spLocks noGrp="1"/>
          </p:cNvSpPr>
          <p:nvPr>
            <p:ph type="sldNum" sz="quarter" idx="5"/>
          </p:nvPr>
        </p:nvSpPr>
        <p:spPr/>
        <p:txBody>
          <a:bodyPr/>
          <a:lstStyle/>
          <a:p>
            <a:fld id="{6D41DF1D-C009-40D8-90FC-01E666AA180B}" type="slidenum">
              <a:t>1</a:t>
            </a:fld>
            <a:endParaRPr lang="en-US"/>
          </a:p>
        </p:txBody>
      </p:sp>
    </p:spTree>
    <p:extLst>
      <p:ext uri="{BB962C8B-B14F-4D97-AF65-F5344CB8AC3E}">
        <p14:creationId xmlns:p14="http://schemas.microsoft.com/office/powerpoint/2010/main" val="2465475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Vincent:</a:t>
            </a:r>
          </a:p>
          <a:p>
            <a:r>
              <a:rPr lang="en-US">
                <a:ea typeface="Calibri"/>
                <a:cs typeface="Calibri"/>
              </a:rPr>
              <a:t>"Here, we lay out the roadmap of our project. We start with the motivation behind our work of using Reddit sentiment for financial prediction. Then explaining how we collected and processed the various collected data. After that, we go through our sentiment analysis pipeline and the machine learning models we applied. We will then share our results and discuss our key findings, to then wrap up with our conclusion and future direction."</a:t>
            </a:r>
          </a:p>
        </p:txBody>
      </p:sp>
      <p:sp>
        <p:nvSpPr>
          <p:cNvPr id="4" name="Slide Number Placeholder 3"/>
          <p:cNvSpPr>
            <a:spLocks noGrp="1"/>
          </p:cNvSpPr>
          <p:nvPr>
            <p:ph type="sldNum" sz="quarter" idx="5"/>
          </p:nvPr>
        </p:nvSpPr>
        <p:spPr/>
        <p:txBody>
          <a:bodyPr/>
          <a:lstStyle/>
          <a:p>
            <a:fld id="{6D41DF1D-C009-40D8-90FC-01E666AA180B}" type="slidenum">
              <a:rPr lang="en-US"/>
              <a:t>2</a:t>
            </a:fld>
            <a:endParaRPr lang="en-US"/>
          </a:p>
        </p:txBody>
      </p:sp>
    </p:spTree>
    <p:extLst>
      <p:ext uri="{BB962C8B-B14F-4D97-AF65-F5344CB8AC3E}">
        <p14:creationId xmlns:p14="http://schemas.microsoft.com/office/powerpoint/2010/main" val="3719834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fld id="{6D41DF1D-C009-40D8-90FC-01E666AA180B}" type="slidenum">
              <a:t>3</a:t>
            </a:fld>
            <a:endParaRPr lang="en-US"/>
          </a:p>
        </p:txBody>
      </p:sp>
    </p:spTree>
    <p:extLst>
      <p:ext uri="{BB962C8B-B14F-4D97-AF65-F5344CB8AC3E}">
        <p14:creationId xmlns:p14="http://schemas.microsoft.com/office/powerpoint/2010/main" val="3286407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panose="020F0502020204030204"/>
                <a:cs typeface="Calibri" panose="020F0502020204030204"/>
              </a:rPr>
              <a:t>Data Collection (Steven)</a:t>
            </a:r>
          </a:p>
          <a:p>
            <a:pPr marL="171450" indent="-171450">
              <a:buFont typeface="Arial"/>
              <a:buChar char="•"/>
            </a:pPr>
            <a:r>
              <a:rPr lang="en-US" dirty="0"/>
              <a:t>We collected real-time discussion posts from 4 stock-related subreddits covering the period between July 1, 2024 to the present. These subreddits include stocks, Wall Street Bets, </a:t>
            </a:r>
            <a:r>
              <a:rPr lang="en-US" dirty="0" err="1"/>
              <a:t>Superstonk</a:t>
            </a:r>
            <a:r>
              <a:rPr lang="en-US" dirty="0"/>
              <a:t>, and investing. </a:t>
            </a:r>
          </a:p>
          <a:p>
            <a:pPr marL="171450" indent="-171450">
              <a:buFont typeface="Arial"/>
              <a:buChar char="•"/>
            </a:pPr>
            <a:r>
              <a:rPr lang="en-US" dirty="0"/>
              <a:t>For each post, we captured basic info, such as the title, body text, scores, number of comments, creation time, and source of where it's retrieved. </a:t>
            </a:r>
            <a:endParaRPr lang="en-US" dirty="0">
              <a:ea typeface="Calibri"/>
              <a:cs typeface="Calibri"/>
            </a:endParaRPr>
          </a:p>
          <a:p>
            <a:pPr marL="171450" indent="-171450">
              <a:buFont typeface="Arial"/>
              <a:buChar char="•"/>
            </a:pPr>
            <a:r>
              <a:rPr lang="en-US" dirty="0"/>
              <a:t>We build the data collection process by first defining each subreddit and the time window, then collected posts under 3 conditions: recent  posts with high engagement, older posts that are historically popular, and newest posts that are up to date </a:t>
            </a:r>
            <a:endParaRPr lang="en-US" dirty="0">
              <a:ea typeface="Calibri"/>
              <a:cs typeface="Calibri"/>
            </a:endParaRPr>
          </a:p>
          <a:p>
            <a:pPr marL="171450" indent="-171450">
              <a:buFont typeface="Arial"/>
              <a:buChar char="•"/>
            </a:pPr>
            <a:r>
              <a:rPr lang="en-US" dirty="0"/>
              <a:t>After collecting the data, we cleaned the data by removing duplicates, sorting by date, and labeling each post by the source they came from, whether it came from the most recent feed, the top posts of the year, or all-time top posts. </a:t>
            </a:r>
            <a:endParaRPr lang="en-US" dirty="0">
              <a:ea typeface="Calibri"/>
              <a:cs typeface="Calibri"/>
            </a:endParaRPr>
          </a:p>
          <a:p>
            <a:pPr marL="171450" indent="-171450">
              <a:buFont typeface="Arial"/>
              <a:buChar char="•"/>
            </a:pPr>
            <a:r>
              <a:rPr lang="en-US" dirty="0"/>
              <a:t>However, there are some limitations of this data collection approach. </a:t>
            </a:r>
            <a:endParaRPr lang="en-US" dirty="0">
              <a:ea typeface="Calibri"/>
              <a:cs typeface="Calibri"/>
            </a:endParaRPr>
          </a:p>
          <a:p>
            <a:pPr marL="171450" indent="-171450">
              <a:buFont typeface="Arial"/>
              <a:buChar char="•"/>
            </a:pPr>
            <a:r>
              <a:rPr lang="en-US" dirty="0"/>
              <a:t>Because Reddit is built to surface what’s new and popular right now, it is designed to be naturally biased toward recent posts, therefore, retrieving older posts is more difficult, leading to a skewed distribution toward newer posts. </a:t>
            </a:r>
            <a:endParaRPr lang="en-US" dirty="0">
              <a:ea typeface="Calibri"/>
              <a:cs typeface="Calibri"/>
            </a:endParaRPr>
          </a:p>
          <a:p>
            <a:pPr marL="171450" indent="-171450">
              <a:buFont typeface="Arial"/>
              <a:buChar char="•"/>
            </a:pPr>
            <a:r>
              <a:rPr lang="en-US" dirty="0"/>
              <a:t>Additionally, the data is static, meaning new posts or edits to existing posts are not automatically reflected unless the data collection script reruns. </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D41DF1D-C009-40D8-90FC-01E666AA180B}" type="slidenum">
              <a:rPr lang="en-US"/>
              <a:t>4</a:t>
            </a:fld>
            <a:endParaRPr lang="en-US"/>
          </a:p>
        </p:txBody>
      </p:sp>
    </p:spTree>
    <p:extLst>
      <p:ext uri="{BB962C8B-B14F-4D97-AF65-F5344CB8AC3E}">
        <p14:creationId xmlns:p14="http://schemas.microsoft.com/office/powerpoint/2010/main" val="1907598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F9E75-F58F-741A-8472-730C54027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1A12B-D27B-696F-1AC6-2C4266B4C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2DD8AB-7CC1-E3A4-6F7F-4AAF29DC27E9}"/>
              </a:ext>
            </a:extLst>
          </p:cNvPr>
          <p:cNvSpPr>
            <a:spLocks noGrp="1"/>
          </p:cNvSpPr>
          <p:nvPr>
            <p:ph type="body" idx="1"/>
          </p:nvPr>
        </p:nvSpPr>
        <p:spPr/>
        <p:txBody>
          <a:bodyPr/>
          <a:lstStyle/>
          <a:p>
            <a:r>
              <a:rPr lang="en-US"/>
              <a:t>Data Collection (Vincent):</a:t>
            </a:r>
          </a:p>
          <a:p>
            <a:r>
              <a:rPr lang="en-US"/>
              <a:t>"With that, we then built the market data pipeline to later merge with the Reddit dataset, which helps us to answer 'When Reddit talked </a:t>
            </a:r>
            <a:r>
              <a:rPr lang="en-US" err="1"/>
              <a:t>abt</a:t>
            </a:r>
            <a:r>
              <a:rPr lang="en-US"/>
              <a:t> a ticker, did that ticker outperform the market on those days'. We created a daily data x ticker panel using </a:t>
            </a:r>
            <a:r>
              <a:rPr lang="en-US" err="1"/>
              <a:t>yfinance</a:t>
            </a:r>
            <a:r>
              <a:rPr lang="en-US"/>
              <a:t> to fetch prices from Yahoo Finance and pandas and NumPy to clean and compute features.</a:t>
            </a:r>
          </a:p>
          <a:p>
            <a:endParaRPr lang="en-US">
              <a:cs typeface="+mn-lt"/>
            </a:endParaRPr>
          </a:p>
          <a:p>
            <a:r>
              <a:rPr lang="en-US"/>
              <a:t>We pulled Adjusted Close for every valid ticker mentioned on the subreddit from July 1st of 2024 to July 31st of this year. We use Adjusted Close specifically as it accounts for splits and dividends, so our performance reflects a more total-return view. We aligned </a:t>
            </a:r>
            <a:r>
              <a:rPr lang="en-US" err="1"/>
              <a:t>averything</a:t>
            </a:r>
            <a:r>
              <a:rPr lang="en-US"/>
              <a:t> to US business days and forward-filled so all tickers share the same calendar, then we dropped symbols with no data or delisted names.</a:t>
            </a:r>
          </a:p>
          <a:p>
            <a:endParaRPr lang="en-US">
              <a:cs typeface="+mn-lt"/>
            </a:endParaRPr>
          </a:p>
          <a:p>
            <a:r>
              <a:rPr lang="en-US"/>
              <a:t>From these prices, we computed three simple metrics: 1) Daily return, or how much each stock </a:t>
            </a:r>
            <a:r>
              <a:rPr lang="en-US" err="1"/>
              <a:t>mobed</a:t>
            </a:r>
            <a:r>
              <a:rPr lang="en-US"/>
              <a:t> each day which lines up directly with daily Reddit activity; 2) </a:t>
            </a:r>
            <a:r>
              <a:rPr lang="en-US" err="1"/>
              <a:t>cumulartive</a:t>
            </a:r>
            <a:r>
              <a:rPr lang="en-US"/>
              <a:t> growth of $1, or how the value evolved over the whole window; and 3) excess return vs. SPY, which is the stock's daily return </a:t>
            </a:r>
            <a:r>
              <a:rPr lang="en-US" err="1"/>
              <a:t>minues</a:t>
            </a:r>
            <a:r>
              <a:rPr lang="en-US"/>
              <a:t> the S&amp;P 500 ETF's return</a:t>
            </a:r>
          </a:p>
          <a:p>
            <a:pPr marL="171450" indent="-171450">
              <a:buFont typeface="Arial"/>
              <a:buChar char="•"/>
            </a:pPr>
            <a:r>
              <a:rPr lang="en-US">
                <a:solidFill>
                  <a:srgbClr val="0070C0"/>
                </a:solidFill>
              </a:rPr>
              <a:t>The SPY ETF is designed to track the S&amp;P 500 index by holding a portfolio comprising all 500 companies on the index.</a:t>
            </a:r>
            <a:endParaRPr lang="en-US">
              <a:solidFill>
                <a:srgbClr val="0070C0"/>
              </a:solidFill>
              <a:ea typeface="Calibri"/>
              <a:cs typeface="Calibri"/>
            </a:endParaRPr>
          </a:p>
          <a:p>
            <a:endParaRPr lang="en-US">
              <a:cs typeface="+mn-lt"/>
            </a:endParaRPr>
          </a:p>
          <a:p>
            <a:r>
              <a:rPr lang="en-US"/>
              <a:t>We exported three files: 1) a wide Adjusted Close table for quick price lookups; 2) a long "features" table </a:t>
            </a:r>
            <a:r>
              <a:rPr lang="en-US" err="1"/>
              <a:t>incorpoprating</a:t>
            </a:r>
            <a:r>
              <a:rPr lang="en-US"/>
              <a:t> the three simple metrics; 3) and a summary table showing each ticker's total period return and its outperformance versus SPY. All lining up with the Reddit posts by company and date.</a:t>
            </a:r>
          </a:p>
          <a:p>
            <a:endParaRPr lang="en-US">
              <a:cs typeface="+mn-lt"/>
            </a:endParaRPr>
          </a:p>
          <a:p>
            <a:r>
              <a:rPr lang="en-US"/>
              <a:t>We merged this clean market panel with the Reddit dataset by company and date. The row count then dropped from 6,400 rows to 1,700 as only a portion of the Reddit data contained valid stock tickers.”</a:t>
            </a:r>
          </a:p>
          <a:p>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B06D75C5-7BA5-A5BB-A08C-03F9A1789722}"/>
              </a:ext>
            </a:extLst>
          </p:cNvPr>
          <p:cNvSpPr>
            <a:spLocks noGrp="1"/>
          </p:cNvSpPr>
          <p:nvPr>
            <p:ph type="sldNum" sz="quarter" idx="5"/>
          </p:nvPr>
        </p:nvSpPr>
        <p:spPr/>
        <p:txBody>
          <a:bodyPr/>
          <a:lstStyle/>
          <a:p>
            <a:fld id="{6D41DF1D-C009-40D8-90FC-01E666AA180B}" type="slidenum">
              <a:rPr lang="en-US"/>
              <a:t>5</a:t>
            </a:fld>
            <a:endParaRPr lang="en-US"/>
          </a:p>
        </p:txBody>
      </p:sp>
    </p:spTree>
    <p:extLst>
      <p:ext uri="{BB962C8B-B14F-4D97-AF65-F5344CB8AC3E}">
        <p14:creationId xmlns:p14="http://schemas.microsoft.com/office/powerpoint/2010/main" val="2194298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Calibri"/>
              <a:buNone/>
            </a:pPr>
            <a:r>
              <a:rPr lang="en-US" dirty="0">
                <a:ea typeface="Calibri" panose="020F0502020204030204"/>
                <a:cs typeface="Calibri" panose="020F0502020204030204"/>
              </a:rPr>
              <a:t>Steven</a:t>
            </a:r>
          </a:p>
          <a:p>
            <a:pPr marL="171450" indent="-171450">
              <a:buFont typeface="Calibri"/>
              <a:buChar char="-"/>
            </a:pPr>
            <a:r>
              <a:rPr lang="en-US" dirty="0">
                <a:ea typeface="Calibri" panose="020F0502020204030204"/>
                <a:cs typeface="Calibri" panose="020F0502020204030204"/>
              </a:rPr>
              <a:t>After merging the Reddit and Yahoo Finance data, we did exploratory data analysis on the merged data where all records are aligned with stock market and trading discussions, and we found some significant findings.</a:t>
            </a:r>
            <a:endParaRPr lang="en-US" dirty="0"/>
          </a:p>
          <a:p>
            <a:endParaRPr lang="en-US" dirty="0">
              <a:ea typeface="Calibri" panose="020F0502020204030204"/>
              <a:cs typeface="Calibri" panose="020F0502020204030204"/>
            </a:endParaRPr>
          </a:p>
          <a:p>
            <a:pPr marL="171450" indent="-171450">
              <a:buFont typeface="Calibri"/>
              <a:buChar char="-"/>
            </a:pPr>
            <a:r>
              <a:rPr lang="en-US" dirty="0">
                <a:ea typeface="Calibri" panose="020F0502020204030204"/>
                <a:cs typeface="Calibri" panose="020F0502020204030204"/>
              </a:rPr>
              <a:t>Firstly, in the heatmap, it shows that most stock-related posts created are concentrated on weekdays roughly between 9am to 7pm, peaking around late morning and early afternoon. </a:t>
            </a:r>
          </a:p>
          <a:p>
            <a:pPr marL="171450" indent="-171450">
              <a:buFont typeface="Calibri"/>
              <a:buChar char="-"/>
            </a:pPr>
            <a:r>
              <a:rPr lang="en-US" dirty="0">
                <a:ea typeface="Calibri" panose="020F0502020204030204"/>
                <a:cs typeface="Calibri" panose="020F0502020204030204"/>
              </a:rPr>
              <a:t>This roughly overlaps with U.S. market hours, </a:t>
            </a:r>
            <a:r>
              <a:rPr lang="en-US" dirty="0"/>
              <a:t>which are specific times of the day that stock exchanges are open for trading.</a:t>
            </a:r>
            <a:endParaRPr lang="en-US" dirty="0">
              <a:ea typeface="Calibri" panose="020F0502020204030204"/>
              <a:cs typeface="Calibri" panose="020F0502020204030204"/>
            </a:endParaRPr>
          </a:p>
          <a:p>
            <a:pPr marL="171450" indent="-171450">
              <a:buFont typeface="Calibri"/>
              <a:buChar char="-"/>
            </a:pPr>
            <a:r>
              <a:rPr lang="en-US" dirty="0">
                <a:ea typeface="Calibri" panose="020F0502020204030204"/>
                <a:cs typeface="Calibri" panose="020F0502020204030204"/>
              </a:rPr>
              <a:t>One notable hotspot happens on Wednesdays at noon where number of posts are at its highest, </a:t>
            </a:r>
            <a:r>
              <a:rPr lang="en-US" dirty="0"/>
              <a:t>suggesting mid-week market news and activity drive higher posting volume.</a:t>
            </a:r>
            <a:endParaRPr lang="en-US" dirty="0">
              <a:ea typeface="Calibri" panose="020F0502020204030204"/>
              <a:cs typeface="Calibri" panose="020F0502020204030204"/>
            </a:endParaRPr>
          </a:p>
          <a:p>
            <a:pPr marL="171450" indent="-171450">
              <a:buFont typeface="Calibri"/>
              <a:buChar char="-"/>
            </a:pPr>
            <a:endParaRPr lang="en-US" dirty="0">
              <a:ea typeface="Calibri" panose="020F0502020204030204"/>
              <a:cs typeface="Calibri" panose="020F0502020204030204"/>
            </a:endParaRPr>
          </a:p>
          <a:p>
            <a:pPr marL="171450" indent="-171450">
              <a:buFont typeface="Calibri"/>
              <a:buChar char="-"/>
            </a:pPr>
            <a:r>
              <a:rPr lang="en-US" dirty="0">
                <a:ea typeface="Calibri" panose="020F0502020204030204"/>
                <a:cs typeface="Calibri" panose="020F0502020204030204"/>
              </a:rPr>
              <a:t>Secondly, in the word cloud, some frequent terms in these posts include </a:t>
            </a:r>
            <a:r>
              <a:rPr lang="en-US" dirty="0"/>
              <a:t>"market,” “stock,” “year,” "AMD", “investing,” “earnings,” and “buy", which is expected for stock-related posts.</a:t>
            </a:r>
            <a:endParaRPr lang="en-US" dirty="0">
              <a:ea typeface="Calibri" panose="020F0502020204030204"/>
              <a:cs typeface="Calibri" panose="020F0502020204030204"/>
            </a:endParaRPr>
          </a:p>
          <a:p>
            <a:pPr marL="171450" indent="-171450">
              <a:buFont typeface="Calibri"/>
              <a:buChar char="-"/>
            </a:pPr>
            <a:r>
              <a:rPr lang="en-US" dirty="0">
                <a:ea typeface="Calibri" panose="020F0502020204030204"/>
                <a:cs typeface="Calibri" panose="020F0502020204030204"/>
              </a:rPr>
              <a:t>One term that stands out is "AMD</a:t>
            </a:r>
            <a:r>
              <a:rPr lang="en-US" dirty="0"/>
              <a:t>" which represents a stock from a US-based semiconductor company called Advanced Micro Devices, Inc., which designs and sell CPUs and graphics cards (GPUs) used in PCs and gaming consoles.</a:t>
            </a:r>
            <a:endParaRPr lang="en-US" dirty="0">
              <a:ea typeface="Calibri" panose="020F0502020204030204"/>
              <a:cs typeface="Calibri" panose="020F0502020204030204"/>
            </a:endParaRPr>
          </a:p>
          <a:p>
            <a:pPr lvl="1" indent="-171450">
              <a:buFont typeface="Courier New"/>
              <a:buChar char="o"/>
            </a:pPr>
            <a:r>
              <a:rPr lang="en-US" dirty="0"/>
              <a:t>Its frequent appearance highlights AMD as one of the most actively discussed tickers in the dataset.</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marL="171450" indent="-171450">
              <a:buFont typeface="Calibri"/>
              <a:buChar char="-"/>
            </a:pPr>
            <a:r>
              <a:rPr lang="en-US" dirty="0">
                <a:ea typeface="Calibri" panose="020F0502020204030204"/>
                <a:cs typeface="+mn-lt"/>
              </a:rPr>
              <a:t>Lastly, we see most posts </a:t>
            </a:r>
            <a:r>
              <a:rPr lang="en-US" dirty="0"/>
              <a:t>cluster below 10,000 scores and 1,000 comments</a:t>
            </a:r>
            <a:r>
              <a:rPr lang="en-US" dirty="0">
                <a:ea typeface="Calibri" panose="020F0502020204030204"/>
                <a:cs typeface="+mn-lt"/>
              </a:rPr>
              <a:t>. There are a few outliers that go beyond  40,000 scores and 12,000 comments, showing there are a few viral posts for certain topics Reddit users find the most engagement in.</a:t>
            </a:r>
          </a:p>
          <a:p>
            <a:pPr lvl="1" indent="-171450">
              <a:buFont typeface="Courier New"/>
              <a:buChar char="o"/>
            </a:pPr>
            <a:r>
              <a:rPr lang="en-US" dirty="0">
                <a:ea typeface="Calibri" panose="020F0502020204030204"/>
                <a:cs typeface="+mn-lt"/>
              </a:rPr>
              <a:t>But overall, this trend shows how typically active these stock-related discussions are.</a:t>
            </a:r>
          </a:p>
        </p:txBody>
      </p:sp>
      <p:sp>
        <p:nvSpPr>
          <p:cNvPr id="4" name="Slide Number Placeholder 3"/>
          <p:cNvSpPr>
            <a:spLocks noGrp="1"/>
          </p:cNvSpPr>
          <p:nvPr>
            <p:ph type="sldNum" sz="quarter" idx="5"/>
          </p:nvPr>
        </p:nvSpPr>
        <p:spPr/>
        <p:txBody>
          <a:bodyPr/>
          <a:lstStyle/>
          <a:p>
            <a:fld id="{6D41DF1D-C009-40D8-90FC-01E666AA180B}" type="slidenum">
              <a:rPr lang="en-US"/>
              <a:t>6</a:t>
            </a:fld>
            <a:endParaRPr lang="en-US"/>
          </a:p>
        </p:txBody>
      </p:sp>
    </p:spTree>
    <p:extLst>
      <p:ext uri="{BB962C8B-B14F-4D97-AF65-F5344CB8AC3E}">
        <p14:creationId xmlns:p14="http://schemas.microsoft.com/office/powerpoint/2010/main" val="1633341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5C582-D459-94CE-63C7-C7F368458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DE98F-46D6-3738-B7B4-6A5683F3A5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8A0EC-C8C9-B02D-5BC5-2AA87BD561DA}"/>
              </a:ext>
            </a:extLst>
          </p:cNvPr>
          <p:cNvSpPr>
            <a:spLocks noGrp="1"/>
          </p:cNvSpPr>
          <p:nvPr>
            <p:ph type="body" idx="1"/>
          </p:nvPr>
        </p:nvSpPr>
        <p:spPr/>
        <p:txBody>
          <a:bodyPr/>
          <a:lstStyle/>
          <a:p>
            <a:r>
              <a:rPr lang="en-US"/>
              <a:t>“Using this data, we </a:t>
            </a:r>
            <a:r>
              <a:rPr lang="en-US" err="1"/>
              <a:t>wanna</a:t>
            </a:r>
            <a:r>
              <a:rPr lang="en-US"/>
              <a:t> test whether subreddit posts related to stocks helps predict short-term stock returns. So our initial hypothesis is that when the post says the price can go up, the next-day returns increase, otherwise when the post said it goes down, they fall. So for our datasets, we have some features from Reddit like id, tickers, </a:t>
            </a:r>
            <a:r>
              <a:rPr lang="en-US" err="1"/>
              <a:t>clean_text</a:t>
            </a:r>
            <a:r>
              <a:rPr lang="en-US"/>
              <a:t>, </a:t>
            </a:r>
            <a:r>
              <a:rPr lang="en-US" err="1"/>
              <a:t>etc</a:t>
            </a:r>
            <a:r>
              <a:rPr lang="en-US"/>
              <a:t>, and features for our Market: ret_1d (daily return).  I compare three sentiment engines: </a:t>
            </a:r>
            <a:r>
              <a:rPr lang="en-US" b="1"/>
              <a:t>VADER</a:t>
            </a:r>
            <a:r>
              <a:rPr lang="en-US"/>
              <a:t> (great for social/emoji), </a:t>
            </a:r>
            <a:r>
              <a:rPr lang="en-US" b="1" err="1"/>
              <a:t>ProsusAI</a:t>
            </a:r>
            <a:r>
              <a:rPr lang="en-US" b="1"/>
              <a:t>/</a:t>
            </a:r>
            <a:r>
              <a:rPr lang="en-US" b="1" err="1"/>
              <a:t>FinBERT</a:t>
            </a:r>
            <a:r>
              <a:rPr lang="en-US"/>
              <a:t>, and </a:t>
            </a:r>
            <a:r>
              <a:rPr lang="en-US" b="1" err="1"/>
              <a:t>FinBERT</a:t>
            </a:r>
            <a:r>
              <a:rPr lang="en-US" b="1"/>
              <a:t>-tone</a:t>
            </a:r>
            <a:r>
              <a:rPr lang="en-US"/>
              <a:t> (both finance-tuned transformers). </a:t>
            </a:r>
            <a:endParaRPr lang="en-US">
              <a:ea typeface="Calibri"/>
              <a:cs typeface="Calibri"/>
            </a:endParaRPr>
          </a:p>
          <a:p>
            <a:endParaRPr lang="en-US"/>
          </a:p>
          <a:p>
            <a:r>
              <a:rPr lang="en-US"/>
              <a:t>“Our dataset combines Reddit and market fields. From Reddit: id, ticker, </a:t>
            </a:r>
            <a:r>
              <a:rPr lang="en-US" err="1"/>
              <a:t>clean_text</a:t>
            </a:r>
            <a:r>
              <a:rPr lang="en-US"/>
              <a:t>, score, </a:t>
            </a:r>
            <a:r>
              <a:rPr lang="en-US" err="1"/>
              <a:t>num_comments</a:t>
            </a:r>
            <a:r>
              <a:rPr lang="en-US"/>
              <a:t>, subreddit, and timestamps. From the market side: ret_1d (daily return), </a:t>
            </a:r>
            <a:r>
              <a:rPr lang="en-US" err="1"/>
              <a:t>adj_close</a:t>
            </a:r>
            <a:r>
              <a:rPr lang="en-US"/>
              <a:t>, and </a:t>
            </a:r>
            <a:r>
              <a:rPr lang="en-US" err="1"/>
              <a:t>exret_vs_bench</a:t>
            </a:r>
            <a:r>
              <a:rPr lang="en-US"/>
              <a:t>.</a:t>
            </a:r>
            <a:br>
              <a:rPr lang="en-US">
                <a:cs typeface="+mn-lt"/>
              </a:rPr>
            </a:br>
            <a:r>
              <a:rPr lang="en-US"/>
              <a:t> Pipeline: 1) clean text and extract tickers, 2) score each post with a sentiment model, 3) </a:t>
            </a:r>
            <a:r>
              <a:rPr lang="en-US" b="1"/>
              <a:t>aggregate to (ticker, date)</a:t>
            </a:r>
            <a:r>
              <a:rPr lang="en-US"/>
              <a:t> to get a daily signal per stock, 4) align to next-day returns for evaluation.”</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4CD04C2F-FE50-7634-D902-AB8EFCD5B042}"/>
              </a:ext>
            </a:extLst>
          </p:cNvPr>
          <p:cNvSpPr>
            <a:spLocks noGrp="1"/>
          </p:cNvSpPr>
          <p:nvPr>
            <p:ph type="sldNum" sz="quarter" idx="5"/>
          </p:nvPr>
        </p:nvSpPr>
        <p:spPr/>
        <p:txBody>
          <a:bodyPr/>
          <a:lstStyle/>
          <a:p>
            <a:fld id="{6D41DF1D-C009-40D8-90FC-01E666AA180B}" type="slidenum">
              <a:rPr lang="en-US"/>
              <a:t>7</a:t>
            </a:fld>
            <a:endParaRPr lang="en-US"/>
          </a:p>
        </p:txBody>
      </p:sp>
    </p:spTree>
    <p:extLst>
      <p:ext uri="{BB962C8B-B14F-4D97-AF65-F5344CB8AC3E}">
        <p14:creationId xmlns:p14="http://schemas.microsoft.com/office/powerpoint/2010/main" val="1757484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1BCC0-D0D8-C6C5-7AFA-F079EF4BB5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AE9A4-0219-CDA4-85A9-397B694A4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369393-4D83-793B-D22A-93468674FDC8}"/>
              </a:ext>
            </a:extLst>
          </p:cNvPr>
          <p:cNvSpPr>
            <a:spLocks noGrp="1"/>
          </p:cNvSpPr>
          <p:nvPr>
            <p:ph type="body" idx="1"/>
          </p:nvPr>
        </p:nvSpPr>
        <p:spPr/>
        <p:txBody>
          <a:bodyPr/>
          <a:lstStyle/>
          <a:p>
            <a:r>
              <a:rPr lang="en-US"/>
              <a:t>“</a:t>
            </a:r>
            <a:r>
              <a:rPr lang="en-US" b="1"/>
              <a:t>VADER</a:t>
            </a:r>
            <a:r>
              <a:rPr lang="en-US"/>
              <a:t> is fast and good at social/emoji language. “VADER gives a compound score from −1 to +1 per post. We average those at the </a:t>
            </a:r>
            <a:r>
              <a:rPr lang="en-US" b="1"/>
              <a:t>(ticker, date) </a:t>
            </a:r>
            <a:r>
              <a:rPr lang="en-US"/>
              <a:t>get one sentiment per stock per day. The table shows examples—cleaned text in the middle and the </a:t>
            </a:r>
            <a:r>
              <a:rPr lang="en-US" b="1"/>
              <a:t>per-post VADER score</a:t>
            </a:r>
            <a:r>
              <a:rPr lang="en-US"/>
              <a:t> on the right. Then I roll those up to daily sentiment per stock.”</a:t>
            </a:r>
          </a:p>
        </p:txBody>
      </p:sp>
      <p:sp>
        <p:nvSpPr>
          <p:cNvPr id="4" name="Slide Number Placeholder 3">
            <a:extLst>
              <a:ext uri="{FF2B5EF4-FFF2-40B4-BE49-F238E27FC236}">
                <a16:creationId xmlns:a16="http://schemas.microsoft.com/office/drawing/2014/main" id="{19C2C584-2F68-576D-A445-6AB55BFCB6D8}"/>
              </a:ext>
            </a:extLst>
          </p:cNvPr>
          <p:cNvSpPr>
            <a:spLocks noGrp="1"/>
          </p:cNvSpPr>
          <p:nvPr>
            <p:ph type="sldNum" sz="quarter" idx="5"/>
          </p:nvPr>
        </p:nvSpPr>
        <p:spPr/>
        <p:txBody>
          <a:bodyPr/>
          <a:lstStyle/>
          <a:p>
            <a:fld id="{6D41DF1D-C009-40D8-90FC-01E666AA180B}" type="slidenum">
              <a:rPr lang="en-US"/>
              <a:t>8</a:t>
            </a:fld>
            <a:endParaRPr lang="en-US"/>
          </a:p>
        </p:txBody>
      </p:sp>
    </p:spTree>
    <p:extLst>
      <p:ext uri="{BB962C8B-B14F-4D97-AF65-F5344CB8AC3E}">
        <p14:creationId xmlns:p14="http://schemas.microsoft.com/office/powerpoint/2010/main" val="4264478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24C0F-8675-7723-22F0-28D2B49CA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5FA48-2181-C15D-82A1-8775CF0E7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301B9-05BF-1239-DDAE-1AE83B6C75B9}"/>
              </a:ext>
            </a:extLst>
          </p:cNvPr>
          <p:cNvSpPr>
            <a:spLocks noGrp="1"/>
          </p:cNvSpPr>
          <p:nvPr>
            <p:ph type="body" idx="1"/>
          </p:nvPr>
        </p:nvSpPr>
        <p:spPr/>
        <p:txBody>
          <a:bodyPr/>
          <a:lstStyle/>
          <a:p>
            <a:r>
              <a:rPr lang="en-US"/>
              <a:t>“Here are VADER’s outcomes.</a:t>
            </a:r>
            <a:br>
              <a:rPr lang="en-US">
                <a:cs typeface="+mn-lt"/>
              </a:rPr>
            </a:br>
            <a:r>
              <a:rPr lang="en-US"/>
              <a:t> • The </a:t>
            </a:r>
            <a:r>
              <a:rPr lang="en-US" b="1"/>
              <a:t>scatter</a:t>
            </a:r>
            <a:r>
              <a:rPr lang="en-US"/>
              <a:t> of sentiment vs. next-day return looks almost flat—Pearson correlation is about </a:t>
            </a:r>
            <a:r>
              <a:rPr lang="en-US" b="1"/>
              <a:t>0.018</a:t>
            </a:r>
            <a:r>
              <a:rPr lang="en-US"/>
              <a:t> (very weak linear link).</a:t>
            </a:r>
            <a:br>
              <a:rPr lang="en-US">
                <a:cs typeface="+mn-lt"/>
              </a:rPr>
            </a:br>
            <a:r>
              <a:rPr lang="en-US"/>
              <a:t> • I then binned sentiment into </a:t>
            </a:r>
            <a:r>
              <a:rPr lang="en-US" b="1"/>
              <a:t>quintiles</a:t>
            </a:r>
            <a:r>
              <a:rPr lang="en-US"/>
              <a:t>. There isn’t a strong monotonic pattern; some buckets show small positive averages. Overall: no strong linear effect from VADER.</a:t>
            </a:r>
          </a:p>
          <a:p>
            <a:endParaRPr lang="en-US">
              <a:ea typeface="Calibri"/>
              <a:cs typeface="Calibri"/>
            </a:endParaRPr>
          </a:p>
        </p:txBody>
      </p:sp>
      <p:sp>
        <p:nvSpPr>
          <p:cNvPr id="4" name="Slide Number Placeholder 3">
            <a:extLst>
              <a:ext uri="{FF2B5EF4-FFF2-40B4-BE49-F238E27FC236}">
                <a16:creationId xmlns:a16="http://schemas.microsoft.com/office/drawing/2014/main" id="{F768FADD-6592-444D-F074-76ACC4AB0C3D}"/>
              </a:ext>
            </a:extLst>
          </p:cNvPr>
          <p:cNvSpPr>
            <a:spLocks noGrp="1"/>
          </p:cNvSpPr>
          <p:nvPr>
            <p:ph type="sldNum" sz="quarter" idx="5"/>
          </p:nvPr>
        </p:nvSpPr>
        <p:spPr/>
        <p:txBody>
          <a:bodyPr/>
          <a:lstStyle/>
          <a:p>
            <a:fld id="{6D41DF1D-C009-40D8-90FC-01E666AA180B}" type="slidenum">
              <a:rPr lang="en-US"/>
              <a:t>9</a:t>
            </a:fld>
            <a:endParaRPr lang="en-US"/>
          </a:p>
        </p:txBody>
      </p:sp>
    </p:spTree>
    <p:extLst>
      <p:ext uri="{BB962C8B-B14F-4D97-AF65-F5344CB8AC3E}">
        <p14:creationId xmlns:p14="http://schemas.microsoft.com/office/powerpoint/2010/main" val="1120615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err="1"/>
              <a:t>FinBERT</a:t>
            </a:r>
            <a:r>
              <a:rPr lang="en-US"/>
              <a:t> is trained on </a:t>
            </a:r>
            <a:r>
              <a:rPr lang="en-US" b="1"/>
              <a:t>financial text</a:t>
            </a:r>
            <a:r>
              <a:rPr lang="en-US"/>
              <a:t>, so it understands phrases like ‘missed guidance’ or ‘EPS beat’. It returns probabilities for </a:t>
            </a:r>
            <a:r>
              <a:rPr lang="en-US" b="1"/>
              <a:t>positive/neutral/negative</a:t>
            </a:r>
            <a:r>
              <a:rPr lang="en-US"/>
              <a:t>. I convert those to a single </a:t>
            </a:r>
            <a:r>
              <a:rPr lang="en-US" b="1"/>
              <a:t>signed score = P(pos) − P(neg)</a:t>
            </a:r>
            <a:r>
              <a:rPr lang="en-US"/>
              <a:t> and average by (ticker, date).</a:t>
            </a:r>
            <a:br>
              <a:rPr lang="en-US">
                <a:cs typeface="+mn-lt"/>
              </a:rPr>
            </a:br>
            <a:r>
              <a:rPr lang="en-US"/>
              <a:t> When I correlate that daily score with </a:t>
            </a:r>
            <a:r>
              <a:rPr lang="en-US" b="1"/>
              <a:t>next-day returns</a:t>
            </a:r>
            <a:r>
              <a:rPr lang="en-US"/>
              <a:t>, I get about </a:t>
            </a:r>
            <a:r>
              <a:rPr lang="en-US" b="1"/>
              <a:t>0.0615</a:t>
            </a:r>
            <a:r>
              <a:rPr lang="en-US"/>
              <a:t>—still weak, but slightly stronger than VADER.”</a:t>
            </a:r>
          </a:p>
        </p:txBody>
      </p:sp>
      <p:sp>
        <p:nvSpPr>
          <p:cNvPr id="4" name="Slide Number Placeholder 3"/>
          <p:cNvSpPr>
            <a:spLocks noGrp="1"/>
          </p:cNvSpPr>
          <p:nvPr>
            <p:ph type="sldNum" sz="quarter" idx="5"/>
          </p:nvPr>
        </p:nvSpPr>
        <p:spPr/>
        <p:txBody>
          <a:bodyPr/>
          <a:lstStyle/>
          <a:p>
            <a:fld id="{6D41DF1D-C009-40D8-90FC-01E666AA180B}" type="slidenum">
              <a:rPr lang="en-US"/>
              <a:t>10</a:t>
            </a:fld>
            <a:endParaRPr lang="en-US"/>
          </a:p>
        </p:txBody>
      </p:sp>
    </p:spTree>
    <p:extLst>
      <p:ext uri="{BB962C8B-B14F-4D97-AF65-F5344CB8AC3E}">
        <p14:creationId xmlns:p14="http://schemas.microsoft.com/office/powerpoint/2010/main" val="3657037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also tried </a:t>
            </a:r>
            <a:r>
              <a:rPr lang="en-US" b="1" err="1"/>
              <a:t>FinBERT</a:t>
            </a:r>
            <a:r>
              <a:rPr lang="en-US" b="1"/>
              <a:t>-tone</a:t>
            </a:r>
            <a:r>
              <a:rPr lang="en-US"/>
              <a:t> and focused on </a:t>
            </a:r>
            <a:r>
              <a:rPr lang="en-US" b="1"/>
              <a:t>extreme sentiment days</a:t>
            </a:r>
            <a:r>
              <a:rPr lang="en-US"/>
              <a:t>—where the model is very confident. The idea is: if sentiment matters, it should matter most when it’s extreme. On that filtered subset, correlation with next-day returns rises to about </a:t>
            </a:r>
            <a:r>
              <a:rPr lang="en-US" b="1"/>
              <a:t>0.0714</a:t>
            </a:r>
            <a:r>
              <a:rPr lang="en-US"/>
              <a:t>—still small, but it’s the strongest of the three.”</a:t>
            </a:r>
          </a:p>
          <a:p>
            <a:endParaRPr lang="en-US">
              <a:ea typeface="Calibri"/>
              <a:cs typeface="Calibri"/>
            </a:endParaRPr>
          </a:p>
          <a:p>
            <a:r>
              <a:rPr lang="en-US"/>
              <a:t>These </a:t>
            </a:r>
            <a:r>
              <a:rPr lang="en-US" b="1"/>
              <a:t>r</a:t>
            </a:r>
            <a:r>
              <a:rPr lang="en-US"/>
              <a:t> values—~0.02 to ~0.07—mean the </a:t>
            </a:r>
            <a:r>
              <a:rPr lang="en-US" b="1"/>
              <a:t>linear</a:t>
            </a:r>
            <a:r>
              <a:rPr lang="en-US"/>
              <a:t> relation between sentiment and next-day returns is </a:t>
            </a:r>
            <a:r>
              <a:rPr lang="en-US" b="1"/>
              <a:t>weak</a:t>
            </a:r>
            <a:r>
              <a:rPr lang="en-US"/>
              <a:t>. That’s normal in short-horizon finance.</a:t>
            </a:r>
            <a:endParaRPr lang="en-US">
              <a:ea typeface="Calibri"/>
              <a:cs typeface="Calibri"/>
            </a:endParaRPr>
          </a:p>
        </p:txBody>
      </p:sp>
      <p:sp>
        <p:nvSpPr>
          <p:cNvPr id="4" name="Slide Number Placeholder 3"/>
          <p:cNvSpPr>
            <a:spLocks noGrp="1"/>
          </p:cNvSpPr>
          <p:nvPr>
            <p:ph type="sldNum" sz="quarter" idx="5"/>
          </p:nvPr>
        </p:nvSpPr>
        <p:spPr/>
        <p:txBody>
          <a:bodyPr/>
          <a:lstStyle/>
          <a:p>
            <a:fld id="{6D41DF1D-C009-40D8-90FC-01E666AA180B}" type="slidenum">
              <a:rPr lang="en-US"/>
              <a:t>11</a:t>
            </a:fld>
            <a:endParaRPr lang="en-US"/>
          </a:p>
        </p:txBody>
      </p:sp>
    </p:spTree>
    <p:extLst>
      <p:ext uri="{BB962C8B-B14F-4D97-AF65-F5344CB8AC3E}">
        <p14:creationId xmlns:p14="http://schemas.microsoft.com/office/powerpoint/2010/main" val="2694685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0A0B-0A3E-E329-6DBA-F6C8300BE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783CB-6169-FFF3-B4A9-D2110D1224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44F626-15EA-0EE3-BD9E-DB48B4904517}"/>
              </a:ext>
            </a:extLst>
          </p:cNvPr>
          <p:cNvSpPr>
            <a:spLocks noGrp="1"/>
          </p:cNvSpPr>
          <p:nvPr>
            <p:ph type="body" idx="1"/>
          </p:nvPr>
        </p:nvSpPr>
        <p:spPr/>
        <p:txBody>
          <a:bodyPr/>
          <a:lstStyle/>
          <a:p>
            <a:r>
              <a:rPr lang="en-US" i="1"/>
              <a:t>For Test 1, we started simple with logistic regression to predict next-day direction using just sentiment scores and quintiles. This gave us a baseline — easy to interpret and see if sentiment alone has any predictive power.</a:t>
            </a:r>
            <a:endParaRPr lang="en-US">
              <a:ea typeface="Calibri" panose="020F0502020204030204"/>
              <a:cs typeface="Calibri" panose="020F0502020204030204"/>
            </a:endParaRPr>
          </a:p>
          <a:p>
            <a:r>
              <a:rPr lang="en-US" i="1"/>
              <a:t>In Test 2, we moved to a random forest predicting 3-day smoothed returns. The idea was to reduce daily noise, and we added market features like current and excess returns and engagement metrics. This helped capture sentiment effects that unfold over a slightly longer horizon.</a:t>
            </a:r>
            <a:endParaRPr lang="en-US">
              <a:ea typeface="Calibri" panose="020F0502020204030204"/>
              <a:cs typeface="Calibri" panose="020F0502020204030204"/>
            </a:endParaRPr>
          </a:p>
          <a:p>
            <a:r>
              <a:rPr lang="en-US" i="1"/>
              <a:t>Finally, Test 3 used </a:t>
            </a:r>
            <a:r>
              <a:rPr lang="en-US" i="1" err="1"/>
              <a:t>XGBoost</a:t>
            </a:r>
            <a:r>
              <a:rPr lang="en-US" i="1"/>
              <a:t> with 5-day cumulative returns. Here we incorporated full feature engineering: lagged returns, rolling averages, volatility measures, and sentiment, plus hyperparameter tuning. This tested whether a more sophisticated ML approach could extract a meaningful predictive signal from the combined data.</a:t>
            </a:r>
            <a:endParaRPr lang="en-US">
              <a:ea typeface="Calibri" panose="020F0502020204030204"/>
              <a:cs typeface="Calibri" panose="020F0502020204030204"/>
            </a:endParaRPr>
          </a:p>
          <a:p>
            <a:r>
              <a:rPr lang="en-US" i="1"/>
              <a:t>Across these tests, we could see how performance improved as we expanded the features and horizon, showing that both feature engineering and longer-term trends are important for capturing any predictive power in sentiment.</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216FCD7E-6669-2AC5-E74D-AE1CF5F1804B}"/>
              </a:ext>
            </a:extLst>
          </p:cNvPr>
          <p:cNvSpPr>
            <a:spLocks noGrp="1"/>
          </p:cNvSpPr>
          <p:nvPr>
            <p:ph type="sldNum" sz="quarter" idx="5"/>
          </p:nvPr>
        </p:nvSpPr>
        <p:spPr/>
        <p:txBody>
          <a:bodyPr/>
          <a:lstStyle/>
          <a:p>
            <a:fld id="{6D41DF1D-C009-40D8-90FC-01E666AA180B}" type="slidenum">
              <a:rPr lang="en-US"/>
              <a:t>12</a:t>
            </a:fld>
            <a:endParaRPr lang="en-US"/>
          </a:p>
        </p:txBody>
      </p:sp>
    </p:spTree>
    <p:extLst>
      <p:ext uri="{BB962C8B-B14F-4D97-AF65-F5344CB8AC3E}">
        <p14:creationId xmlns:p14="http://schemas.microsoft.com/office/powerpoint/2010/main" val="1629010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FD69B-819E-50FC-5845-8346D6E3B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E4DD7-D79C-323B-A33E-F076E18AA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7CE99-C663-D36F-FE03-265E31BFEB69}"/>
              </a:ext>
            </a:extLst>
          </p:cNvPr>
          <p:cNvSpPr>
            <a:spLocks noGrp="1"/>
          </p:cNvSpPr>
          <p:nvPr>
            <p:ph type="body" idx="1"/>
          </p:nvPr>
        </p:nvSpPr>
        <p:spPr/>
        <p:txBody>
          <a:bodyPr/>
          <a:lstStyle/>
          <a:p>
            <a:r>
              <a:rPr lang="en-US"/>
              <a:t>To measure the models, I focus on F1 scores because they balance precision and recall, which is crucial for predicting stock movements from Reddit sentiment. Precision helps avoid false signals that could mislead trading decisions, while recall ensures we capture real price moves even when sentiment is noisy or delayed. Together, F1 provides a single metric that reflects both, making it more informative than accuracy in this context. Macro F1 rises from ~0.49 for Logistic Regression to 0.63 for </a:t>
            </a:r>
            <a:r>
              <a:rPr lang="en-US" err="1"/>
              <a:t>XGBoost</a:t>
            </a:r>
            <a:r>
              <a:rPr lang="en-US"/>
              <a:t>, showing that the models are getting better at correctly identifying both upward and downward price moves influenced by retail sentiment.</a:t>
            </a:r>
          </a:p>
          <a:p>
            <a:endParaRPr lang="en-US">
              <a:ea typeface="Calibri"/>
              <a:cs typeface="Calibri"/>
            </a:endParaRPr>
          </a:p>
          <a:p>
            <a:r>
              <a:rPr lang="en-US"/>
              <a:t>Accuracy supports this trend. </a:t>
            </a:r>
            <a:r>
              <a:rPr lang="en-US" err="1"/>
              <a:t>XGBoost</a:t>
            </a:r>
            <a:r>
              <a:rPr lang="en-US"/>
              <a:t> achieves ~64%--but it’s secondary to F1. In stock prediction, overall accuracy can be misleading if one class, like down-moves, dominates; F1 gives a clearer picture of predictive balance.</a:t>
            </a:r>
            <a:endParaRPr lang="en-US">
              <a:ea typeface="Calibri"/>
              <a:cs typeface="Calibri"/>
            </a:endParaRPr>
          </a:p>
          <a:p>
            <a:endParaRPr lang="en-US">
              <a:ea typeface="Calibri"/>
              <a:cs typeface="Calibri"/>
            </a:endParaRPr>
          </a:p>
          <a:p>
            <a:r>
              <a:rPr lang="en-US"/>
              <a:t>Longer horizons, like 5-day cumulative returns, improve predictive performance over next-day forecasts. Feature engineering—especially volatility, lagged returns, and rolling metrics—adds more predictive power than sentiment alone.</a:t>
            </a:r>
            <a:br>
              <a:rPr lang="en-US">
                <a:cs typeface="+mn-lt"/>
              </a:rPr>
            </a:br>
            <a:r>
              <a:rPr lang="en-US"/>
              <a:t> The top drivers make sense in the context of the market: Reddit posts often react after price moves, so sentiment lags short-term returns, while technical patterns dominate immediate market behavior.</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36ABF88D-3A84-F2E0-1212-D39C0C974DD9}"/>
              </a:ext>
            </a:extLst>
          </p:cNvPr>
          <p:cNvSpPr>
            <a:spLocks noGrp="1"/>
          </p:cNvSpPr>
          <p:nvPr>
            <p:ph type="sldNum" sz="quarter" idx="5"/>
          </p:nvPr>
        </p:nvSpPr>
        <p:spPr/>
        <p:txBody>
          <a:bodyPr/>
          <a:lstStyle/>
          <a:p>
            <a:fld id="{6D41DF1D-C009-40D8-90FC-01E666AA180B}" type="slidenum">
              <a:rPr lang="en-US"/>
              <a:t>13</a:t>
            </a:fld>
            <a:endParaRPr lang="en-US"/>
          </a:p>
        </p:txBody>
      </p:sp>
    </p:spTree>
    <p:extLst>
      <p:ext uri="{BB962C8B-B14F-4D97-AF65-F5344CB8AC3E}">
        <p14:creationId xmlns:p14="http://schemas.microsoft.com/office/powerpoint/2010/main" val="2363302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Reddit is incredibly noisy. In this project, it was hard to separate genuine sentiment from meme-driven hype or overlapping news. That’s one reason sentiment alone didn’t end up being the strongest predictor.</a:t>
            </a:r>
            <a:endParaRPr lang="en-US">
              <a:ea typeface="Calibri" panose="020F0502020204030204"/>
              <a:cs typeface="Calibri" panose="020F0502020204030204"/>
            </a:endParaRPr>
          </a:p>
          <a:p>
            <a:r>
              <a:rPr lang="en-US"/>
              <a:t>Labeling was another hurdle. Slang and irony make automated sentiment scores unreliable, which likely explains why engineered features outperformed raw sentiment inputs in my models.</a:t>
            </a:r>
            <a:endParaRPr lang="en-US">
              <a:ea typeface="Calibri" panose="020F0502020204030204"/>
              <a:cs typeface="Calibri" panose="020F0502020204030204"/>
            </a:endParaRPr>
          </a:p>
          <a:p>
            <a:r>
              <a:rPr lang="en-US"/>
              <a:t>Overfitting was a real concern too. With relatively small Reddit datasets, </a:t>
            </a:r>
            <a:r>
              <a:rPr lang="en-US" err="1"/>
              <a:t>FinBERT</a:t>
            </a:r>
            <a:r>
              <a:rPr lang="en-US"/>
              <a:t> and other transformers tended to latch onto spurious correlations, so simpler models with feature engineering gave more stable results. </a:t>
            </a:r>
            <a:endParaRPr lang="en-US">
              <a:ea typeface="Calibri" panose="020F0502020204030204"/>
              <a:cs typeface="Calibri" panose="020F0502020204030204"/>
            </a:endParaRPr>
          </a:p>
          <a:p>
            <a:r>
              <a:rPr lang="en-US"/>
              <a:t>And finally, sentiment on Reddit is very event-driven — volumes spike around earnings or scandals. That volatility made the signal unstable, which is why longer-horizon forecasts performed better than daily ones.</a:t>
            </a:r>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6D41DF1D-C009-40D8-90FC-01E666AA180B}" type="slidenum">
              <a:rPr lang="en-US"/>
              <a:t>14</a:t>
            </a:fld>
            <a:endParaRPr lang="en-US"/>
          </a:p>
        </p:txBody>
      </p:sp>
    </p:spTree>
    <p:extLst>
      <p:ext uri="{BB962C8B-B14F-4D97-AF65-F5344CB8AC3E}">
        <p14:creationId xmlns:p14="http://schemas.microsoft.com/office/powerpoint/2010/main" val="1089327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Calibri"/>
              <a:buNone/>
            </a:pPr>
            <a:r>
              <a:rPr lang="en-US" dirty="0">
                <a:ea typeface="Calibri"/>
                <a:cs typeface="Calibri"/>
              </a:rPr>
              <a:t>Steven</a:t>
            </a:r>
          </a:p>
          <a:p>
            <a:pPr marL="171450" indent="-171450">
              <a:buFont typeface="Calibri"/>
              <a:buChar char="-"/>
            </a:pPr>
            <a:r>
              <a:rPr lang="en-US" dirty="0">
                <a:ea typeface="Calibri"/>
                <a:cs typeface="Calibri"/>
              </a:rPr>
              <a:t>Overall, the takeaway is that Reddit sentiment provides a unique view into market dynamics. </a:t>
            </a:r>
            <a:endParaRPr lang="en-US" dirty="0"/>
          </a:p>
          <a:p>
            <a:pPr marL="914400" lvl="1" indent="-171450">
              <a:buFont typeface="Courier New"/>
              <a:buChar char="o"/>
            </a:pPr>
            <a:r>
              <a:rPr lang="en-US" dirty="0">
                <a:ea typeface="Calibri"/>
                <a:cs typeface="Calibri"/>
              </a:rPr>
              <a:t>Posts and comments do not just reflect news, but they also capture investment decision-making based on an investor's well-being, meme-driven hype, and short-term price movements that traditional fundamentals often miss.</a:t>
            </a:r>
          </a:p>
          <a:p>
            <a:pPr marL="171450" indent="-171450">
              <a:buFont typeface="Calibri"/>
              <a:buChar char="-"/>
            </a:pPr>
            <a:r>
              <a:rPr lang="en-US" dirty="0"/>
              <a:t>To analyze this effectively, advanced NLP models such as </a:t>
            </a:r>
            <a:r>
              <a:rPr lang="en-US" dirty="0" err="1"/>
              <a:t>FinBERT</a:t>
            </a:r>
            <a:r>
              <a:rPr lang="en-US" dirty="0"/>
              <a:t>, or other fine-tuned financial transformers, add real value. </a:t>
            </a:r>
          </a:p>
          <a:p>
            <a:pPr marL="914400" lvl="1" indent="-171450">
              <a:buFont typeface="Courier New"/>
              <a:buChar char="o"/>
            </a:pPr>
            <a:r>
              <a:rPr lang="en-US" dirty="0"/>
              <a:t>They’re better at interpreting slang, irony, and context in Reddit discussions than simple word lists or lexicon-based methods.</a:t>
            </a:r>
            <a:endParaRPr lang="en-US" dirty="0">
              <a:ea typeface="Calibri"/>
              <a:cs typeface="Calibri"/>
            </a:endParaRPr>
          </a:p>
          <a:p>
            <a:pPr marL="171450" indent="-171450">
              <a:buFont typeface="Calibri"/>
              <a:buChar char="-"/>
            </a:pPr>
            <a:r>
              <a:rPr lang="en-US" dirty="0"/>
              <a:t>At the same time, filtering the data improves reliability. </a:t>
            </a:r>
          </a:p>
          <a:p>
            <a:pPr marL="914400" lvl="1" indent="-171450">
              <a:buFont typeface="Courier New"/>
              <a:buChar char="o"/>
            </a:pPr>
            <a:r>
              <a:rPr lang="en-US" dirty="0"/>
              <a:t>By focusing on extreme sentiment days or major events like earnings or short squeezes, we uncover stronger and more consistent correlations with stock returns.</a:t>
            </a:r>
            <a:endParaRPr lang="en-US" dirty="0">
              <a:ea typeface="Calibri" panose="020F0502020204030204"/>
              <a:cs typeface="Calibri" panose="020F0502020204030204"/>
            </a:endParaRPr>
          </a:p>
          <a:p>
            <a:pPr marL="171450" indent="-171450">
              <a:buFont typeface="Calibri"/>
              <a:buChar char="-"/>
            </a:pPr>
            <a:r>
              <a:rPr lang="en-US" dirty="0"/>
              <a:t>And finally, it’s important to note that correlation alone has limits. </a:t>
            </a:r>
            <a:endParaRPr lang="en-US" dirty="0">
              <a:ea typeface="Calibri"/>
              <a:cs typeface="Calibri"/>
            </a:endParaRPr>
          </a:p>
          <a:p>
            <a:pPr marL="914400" lvl="1" indent="-171450">
              <a:buFont typeface="Courier New"/>
              <a:buChar char="o"/>
            </a:pPr>
            <a:r>
              <a:rPr lang="en-US" dirty="0"/>
              <a:t>While Reddit sentiment can move markets, the relationship is more complex and nuanced than a single number suggests. </a:t>
            </a:r>
          </a:p>
          <a:p>
            <a:pPr marL="914400" lvl="1" indent="-171450">
              <a:buFont typeface="Courier New"/>
              <a:buChar char="o"/>
            </a:pPr>
            <a:r>
              <a:rPr lang="en-US" dirty="0"/>
              <a:t>It’s about capturing shifts in attention, mood, and the widespread sharing of a piece of content, idea, and trend.</a:t>
            </a:r>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6D41DF1D-C009-40D8-90FC-01E666AA180B}" type="slidenum">
              <a:rPr lang="en-US"/>
              <a:t>15</a:t>
            </a:fld>
            <a:endParaRPr lang="en-US"/>
          </a:p>
        </p:txBody>
      </p:sp>
    </p:spTree>
    <p:extLst>
      <p:ext uri="{BB962C8B-B14F-4D97-AF65-F5344CB8AC3E}">
        <p14:creationId xmlns:p14="http://schemas.microsoft.com/office/powerpoint/2010/main" val="1101910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On Broadening the Dataset:</a:t>
            </a:r>
            <a:r>
              <a:rPr lang="en-US" dirty="0"/>
              <a:t> </a:t>
            </a:r>
            <a:br>
              <a:rPr lang="en-US" dirty="0">
                <a:cs typeface="+mn-lt"/>
              </a:rPr>
            </a:br>
            <a:r>
              <a:rPr lang="en-US" dirty="0"/>
              <a:t> </a:t>
            </a:r>
            <a:r>
              <a:rPr lang="en-US" b="1" dirty="0"/>
              <a:t>"While our initial findings are revealing, the next crucial step is to test how generalizable this signal really is. We plan to do this by expanding our dataset significantly</a:t>
            </a:r>
            <a:r>
              <a:rPr lang="en-US" dirty="0"/>
              <a:t>—incorporating a longer time period, many more tickers, and even data from other markets. This will help us answer a key question: Is what we're seeing a persistent market phenomenon, or was it just a unique feature of our specific sample?" </a:t>
            </a:r>
            <a:endParaRPr lang="en-US" dirty="0">
              <a:ea typeface="Calibri"/>
              <a:cs typeface="Calibri"/>
            </a:endParaRPr>
          </a:p>
          <a:p>
            <a:r>
              <a:rPr lang="en-US" b="1" dirty="0"/>
              <a:t>2. On Isolating the Signal with Causal Analysis:</a:t>
            </a:r>
            <a:r>
              <a:rPr lang="en-US" dirty="0"/>
              <a:t> </a:t>
            </a:r>
            <a:br>
              <a:rPr lang="en-US" dirty="0">
                <a:cs typeface="+mn-lt"/>
              </a:rPr>
            </a:br>
            <a:r>
              <a:rPr lang="en-US" dirty="0"/>
              <a:t> </a:t>
            </a:r>
            <a:r>
              <a:rPr lang="en-US" b="1" dirty="0"/>
              <a:t>"To move from correlation to causation, we need to isolate the signal from the noise</a:t>
            </a:r>
            <a:r>
              <a:rPr lang="en-US" dirty="0"/>
              <a:t>. We propose using more precise methods, like </a:t>
            </a:r>
            <a:r>
              <a:rPr lang="en-US" b="1" dirty="0"/>
              <a:t>event studies</a:t>
            </a:r>
            <a:r>
              <a:rPr lang="en-US" dirty="0"/>
              <a:t>. This means zeroing in on specific, high-impact events—like earnings reports or a post going viral—and analyzing the sentiment and market activity in a tight window around them. This helps us see if Reddit sentiment is actually driving the move, or just reacting to it." </a:t>
            </a:r>
            <a:endParaRPr lang="en-US" dirty="0">
              <a:ea typeface="Calibri"/>
              <a:cs typeface="Calibri"/>
            </a:endParaRPr>
          </a:p>
          <a:p>
            <a:r>
              <a:rPr lang="en-US" b="1" dirty="0"/>
              <a:t>3. On Building a Hybrid Model:</a:t>
            </a:r>
            <a:r>
              <a:rPr lang="en-US" dirty="0"/>
              <a:t> </a:t>
            </a:r>
            <a:br>
              <a:rPr lang="en-US" dirty="0">
                <a:cs typeface="+mn-lt"/>
              </a:rPr>
            </a:br>
            <a:r>
              <a:rPr lang="en-US" dirty="0"/>
              <a:t> </a:t>
            </a:r>
            <a:r>
              <a:rPr lang="en-US" b="1" dirty="0"/>
              <a:t>"Our results show that sentiment alone is a weak predictor. The real power likely comes from combining it with other data</a:t>
            </a:r>
            <a:r>
              <a:rPr lang="en-US" dirty="0"/>
              <a:t>. Our next phase is to build a hybrid model that integrates Reddit sentiment with traditional market data—like trading volume, volatility, and order flow. The goal is to see if social sentiment can add predictive power to these established technical indicators." </a:t>
            </a:r>
            <a:endParaRPr lang="en-US" dirty="0">
              <a:ea typeface="Calibri"/>
              <a:cs typeface="Calibri"/>
            </a:endParaRPr>
          </a:p>
          <a:p>
            <a:r>
              <a:rPr lang="en-US" b="1" dirty="0"/>
              <a:t>4. On Improving Our Language Tools:</a:t>
            </a:r>
            <a:r>
              <a:rPr lang="en-US" dirty="0"/>
              <a:t> </a:t>
            </a:r>
            <a:br>
              <a:rPr lang="en-US" dirty="0">
                <a:cs typeface="+mn-lt"/>
              </a:rPr>
            </a:br>
            <a:r>
              <a:rPr lang="en-US" dirty="0"/>
              <a:t> </a:t>
            </a:r>
            <a:r>
              <a:rPr lang="en-US" b="1" dirty="0"/>
              <a:t>"Finally, we must acknowledge that Reddit has its own unique language—full of memes, slang, and sarcasm. General-purpose sentiment models often miss these nuances. A major initiative for us is to enhance our NLP models</a:t>
            </a:r>
            <a:r>
              <a:rPr lang="en-US" dirty="0"/>
              <a:t>, potentially by fine-tuning them on Reddit-specific data. This will allow us to more accurately capture the true sentiment behind posts that might otherwise be misclassified." </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D41DF1D-C009-40D8-90FC-01E666AA180B}" type="slidenum">
              <a:rPr lang="en-US"/>
              <a:t>16</a:t>
            </a:fld>
            <a:endParaRPr lang="en-US"/>
          </a:p>
        </p:txBody>
      </p:sp>
    </p:spTree>
    <p:extLst>
      <p:ext uri="{BB962C8B-B14F-4D97-AF65-F5344CB8AC3E}">
        <p14:creationId xmlns:p14="http://schemas.microsoft.com/office/powerpoint/2010/main" val="2970641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11/16/2025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226936172"/>
      </p:ext>
    </p:extLst>
  </p:cSld>
  <p:clrMapOvr>
    <a:masterClrMapping/>
  </p:clrMapOvr>
  <p:hf sldNum="0"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11/16/2025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762444506"/>
      </p:ext>
    </p:extLst>
  </p:cSld>
  <p:clrMapOvr>
    <a:masterClrMapping/>
  </p:clrMapOvr>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11/16/2025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761706708"/>
      </p:ext>
    </p:extLst>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11876542"/>
      </p:ext>
    </p:extLst>
  </p:cSld>
  <p:clrMapOvr>
    <a:masterClrMapping/>
  </p:clrMapOvr>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11/16/2025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173631558"/>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11/16/2025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80890186"/>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11/16/2025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659262300"/>
      </p:ext>
    </p:extLst>
  </p:cSld>
  <p:clrMapOvr>
    <a:masterClrMapping/>
  </p:clrMapOvr>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11/16/2025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992002268"/>
      </p:ext>
    </p:extLst>
  </p:cSld>
  <p:clrMapOvr>
    <a:masterClrMapping/>
  </p:clrMapOvr>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11/16/2025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868945713"/>
      </p:ext>
    </p:extLst>
  </p:cSld>
  <p:clrMapOvr>
    <a:masterClrMapping/>
  </p:clrMapOvr>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11/16/2025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75057922"/>
      </p:ext>
    </p:extLst>
  </p:cSld>
  <p:clrMapOvr>
    <a:masterClrMapping/>
  </p:clrMapOvr>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11/16/2025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394905527"/>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11/16/2025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17350451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2_D22ECF0F.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microsoft.com/office/2018/10/relationships/comments" Target="../comments/modernComment_103_9F6BEBD0.xm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microsoft.com/office/2018/10/relationships/comments" Target="../comments/modernComment_104_35840897.xm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9_85116E6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6_BD22871B.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7_FAF4FFBE.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74B8CC-6032-82BC-D35B-2DB0264EBC8B}"/>
              </a:ext>
            </a:extLst>
          </p:cNvPr>
          <p:cNvSpPr/>
          <p:nvPr/>
        </p:nvSpPr>
        <p:spPr>
          <a:xfrm>
            <a:off x="-1353" y="4411474"/>
            <a:ext cx="12198213" cy="2447895"/>
          </a:xfrm>
          <a:prstGeom prst="rect">
            <a:avLst/>
          </a:prstGeom>
          <a:solidFill>
            <a:srgbClr val="2730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947355" y="805797"/>
            <a:ext cx="10335996" cy="3358403"/>
          </a:xfrm>
        </p:spPr>
        <p:txBody>
          <a:bodyPr vert="horz" lIns="91440" tIns="45720" rIns="91440" bIns="45720" rtlCol="0" anchor="ctr">
            <a:noAutofit/>
          </a:bodyPr>
          <a:lstStyle/>
          <a:p>
            <a:r>
              <a:rPr lang="en-US" sz="5400" dirty="0">
                <a:solidFill>
                  <a:srgbClr val="27302B"/>
                </a:solidFill>
                <a:ea typeface="+mj-lt"/>
                <a:cs typeface="+mj-lt"/>
              </a:rPr>
              <a:t>Reddit Sentiment Analysis and Financial Market Correlations</a:t>
            </a:r>
            <a:endParaRPr lang="en-US" dirty="0">
              <a:solidFill>
                <a:srgbClr val="27302B"/>
              </a:solidFill>
            </a:endParaRPr>
          </a:p>
        </p:txBody>
      </p:sp>
      <p:sp>
        <p:nvSpPr>
          <p:cNvPr id="3" name="Subtitle 2"/>
          <p:cNvSpPr>
            <a:spLocks noGrp="1"/>
          </p:cNvSpPr>
          <p:nvPr>
            <p:ph type="subTitle" idx="1"/>
          </p:nvPr>
        </p:nvSpPr>
        <p:spPr>
          <a:xfrm>
            <a:off x="549789" y="4863806"/>
            <a:ext cx="11129685" cy="1082957"/>
          </a:xfrm>
          <a:noFill/>
          <a:ln w="12700">
            <a:noFill/>
          </a:ln>
        </p:spPr>
        <p:txBody>
          <a:bodyPr vert="horz" lIns="91440" tIns="45720" rIns="91440" bIns="45720" rtlCol="0" anchor="ctr">
            <a:noAutofit/>
          </a:bodyPr>
          <a:lstStyle/>
          <a:p>
            <a:pPr algn="ctr"/>
            <a:r>
              <a:rPr lang="en-US" sz="2800" b="1" dirty="0">
                <a:solidFill>
                  <a:schemeClr val="bg1"/>
                </a:solidFill>
              </a:rPr>
              <a:t>Presenters: Group 6</a:t>
            </a:r>
            <a:br>
              <a:rPr lang="en-US" sz="2800" b="1" dirty="0"/>
            </a:br>
            <a:r>
              <a:rPr lang="en-US" sz="2800" b="1" dirty="0" err="1">
                <a:solidFill>
                  <a:schemeClr val="bg1"/>
                </a:solidFill>
              </a:rPr>
              <a:t>Janhi</a:t>
            </a:r>
            <a:r>
              <a:rPr lang="en-US" sz="2800" b="1" dirty="0">
                <a:solidFill>
                  <a:schemeClr val="bg1"/>
                </a:solidFill>
              </a:rPr>
              <a:t> Ong, </a:t>
            </a:r>
            <a:r>
              <a:rPr lang="en-US" sz="2800" b="1" dirty="0" err="1">
                <a:solidFill>
                  <a:schemeClr val="bg1"/>
                </a:solidFill>
              </a:rPr>
              <a:t>Shailyshreyee</a:t>
            </a:r>
            <a:r>
              <a:rPr lang="en-US" sz="2800" b="1" dirty="0">
                <a:solidFill>
                  <a:schemeClr val="bg1"/>
                </a:solidFill>
              </a:rPr>
              <a:t> Tagore, Sukriti Dhungel, </a:t>
            </a:r>
            <a:br>
              <a:rPr lang="en-US" sz="2800" b="1" dirty="0">
                <a:solidFill>
                  <a:schemeClr val="bg1"/>
                </a:solidFill>
              </a:rPr>
            </a:br>
            <a:r>
              <a:rPr lang="en-US" sz="2800" b="1" dirty="0">
                <a:solidFill>
                  <a:schemeClr val="bg1"/>
                </a:solidFill>
              </a:rPr>
              <a:t>Steven Nguyen, Vincent So</a:t>
            </a:r>
            <a:endParaRPr lang="en-US" dirty="0">
              <a:solidFill>
                <a:schemeClr val="bg1"/>
              </a:solidFill>
            </a:endParaRPr>
          </a:p>
        </p:txBody>
      </p:sp>
      <p:sp>
        <p:nvSpPr>
          <p:cNvPr id="5" name="Rectangle 4">
            <a:extLst>
              <a:ext uri="{FF2B5EF4-FFF2-40B4-BE49-F238E27FC236}">
                <a16:creationId xmlns:a16="http://schemas.microsoft.com/office/drawing/2014/main" id="{B61C4C86-D99C-FFC0-7DDE-D39AA54637C2}"/>
              </a:ext>
            </a:extLst>
          </p:cNvPr>
          <p:cNvSpPr/>
          <p:nvPr/>
        </p:nvSpPr>
        <p:spPr>
          <a:xfrm>
            <a:off x="-7703" y="492669"/>
            <a:ext cx="12190631" cy="172915"/>
          </a:xfrm>
          <a:prstGeom prst="rect">
            <a:avLst/>
          </a:prstGeom>
          <a:solidFill>
            <a:srgbClr val="2730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2CC73806-1914-E584-9C85-D88C2BB3181C}"/>
              </a:ext>
            </a:extLst>
          </p:cNvPr>
          <p:cNvSpPr txBox="1">
            <a:spLocks/>
          </p:cNvSpPr>
          <p:nvPr/>
        </p:nvSpPr>
        <p:spPr>
          <a:xfrm>
            <a:off x="911865" y="3828745"/>
            <a:ext cx="10335996" cy="414787"/>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en-US" sz="2800" b="0" i="1">
                <a:solidFill>
                  <a:srgbClr val="27302B"/>
                </a:solidFill>
                <a:ea typeface="+mj-lt"/>
                <a:cs typeface="+mj-lt"/>
              </a:rPr>
              <a:t>Exploring NLP-driven signals for financial prediction</a:t>
            </a:r>
            <a:endParaRPr lang="en-US" sz="2800" i="1"/>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 name="Rectangle: Rounded Corners 520">
            <a:extLst>
              <a:ext uri="{FF2B5EF4-FFF2-40B4-BE49-F238E27FC236}">
                <a16:creationId xmlns:a16="http://schemas.microsoft.com/office/drawing/2014/main" id="{5817137B-7887-C0C5-87EE-C825E4DFB711}"/>
              </a:ext>
            </a:extLst>
          </p:cNvPr>
          <p:cNvSpPr/>
          <p:nvPr/>
        </p:nvSpPr>
        <p:spPr>
          <a:xfrm>
            <a:off x="1196292" y="2340544"/>
            <a:ext cx="6107689" cy="652839"/>
          </a:xfrm>
          <a:prstGeom prst="roundRect">
            <a:avLst/>
          </a:prstGeom>
          <a:solidFill>
            <a:srgbClr val="FCF7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Rounded Corners 521">
            <a:extLst>
              <a:ext uri="{FF2B5EF4-FFF2-40B4-BE49-F238E27FC236}">
                <a16:creationId xmlns:a16="http://schemas.microsoft.com/office/drawing/2014/main" id="{763E24DF-D18B-755B-FDD9-3038B731909E}"/>
              </a:ext>
            </a:extLst>
          </p:cNvPr>
          <p:cNvSpPr/>
          <p:nvPr/>
        </p:nvSpPr>
        <p:spPr>
          <a:xfrm>
            <a:off x="1196292" y="3123420"/>
            <a:ext cx="6107689" cy="652839"/>
          </a:xfrm>
          <a:prstGeom prst="roundRect">
            <a:avLst/>
          </a:prstGeom>
          <a:solidFill>
            <a:srgbClr val="FCF7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Rounded Corners 522">
            <a:extLst>
              <a:ext uri="{FF2B5EF4-FFF2-40B4-BE49-F238E27FC236}">
                <a16:creationId xmlns:a16="http://schemas.microsoft.com/office/drawing/2014/main" id="{C56CA987-DB3F-CD1E-FBE9-EBD64A2BDA9E}"/>
              </a:ext>
            </a:extLst>
          </p:cNvPr>
          <p:cNvSpPr/>
          <p:nvPr/>
        </p:nvSpPr>
        <p:spPr>
          <a:xfrm>
            <a:off x="1196292" y="3885420"/>
            <a:ext cx="6107689" cy="652839"/>
          </a:xfrm>
          <a:prstGeom prst="roundRect">
            <a:avLst/>
          </a:prstGeom>
          <a:solidFill>
            <a:srgbClr val="FCF7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Rounded Corners 523">
            <a:extLst>
              <a:ext uri="{FF2B5EF4-FFF2-40B4-BE49-F238E27FC236}">
                <a16:creationId xmlns:a16="http://schemas.microsoft.com/office/drawing/2014/main" id="{B01B7023-29F0-3455-9CC9-EFEF632ECE99}"/>
              </a:ext>
            </a:extLst>
          </p:cNvPr>
          <p:cNvSpPr/>
          <p:nvPr/>
        </p:nvSpPr>
        <p:spPr>
          <a:xfrm>
            <a:off x="1217167" y="5367666"/>
            <a:ext cx="6107689" cy="652839"/>
          </a:xfrm>
          <a:prstGeom prst="roundRect">
            <a:avLst/>
          </a:prstGeom>
          <a:solidFill>
            <a:srgbClr val="FCF7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Rounded Corners 524">
            <a:extLst>
              <a:ext uri="{FF2B5EF4-FFF2-40B4-BE49-F238E27FC236}">
                <a16:creationId xmlns:a16="http://schemas.microsoft.com/office/drawing/2014/main" id="{B62CBDBB-9D51-959E-F731-D031462CC94C}"/>
              </a:ext>
            </a:extLst>
          </p:cNvPr>
          <p:cNvSpPr/>
          <p:nvPr/>
        </p:nvSpPr>
        <p:spPr>
          <a:xfrm>
            <a:off x="1217167" y="4626543"/>
            <a:ext cx="6107689" cy="652839"/>
          </a:xfrm>
          <a:prstGeom prst="roundRect">
            <a:avLst/>
          </a:prstGeom>
          <a:solidFill>
            <a:srgbClr val="FCF7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Rounded Corners 517">
            <a:extLst>
              <a:ext uri="{FF2B5EF4-FFF2-40B4-BE49-F238E27FC236}">
                <a16:creationId xmlns:a16="http://schemas.microsoft.com/office/drawing/2014/main" id="{F4F6557E-D4D3-F3F5-F2AE-B7835E2B232C}"/>
              </a:ext>
            </a:extLst>
          </p:cNvPr>
          <p:cNvSpPr/>
          <p:nvPr/>
        </p:nvSpPr>
        <p:spPr>
          <a:xfrm>
            <a:off x="1196293" y="1568105"/>
            <a:ext cx="6107689" cy="652839"/>
          </a:xfrm>
          <a:prstGeom prst="roundRect">
            <a:avLst/>
          </a:prstGeom>
          <a:solidFill>
            <a:srgbClr val="FCF7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324996-A3D8-4DE9-0A0D-0CFAC7735F3E}"/>
              </a:ext>
            </a:extLst>
          </p:cNvPr>
          <p:cNvSpPr>
            <a:spLocks noGrp="1"/>
          </p:cNvSpPr>
          <p:nvPr>
            <p:ph type="title"/>
          </p:nvPr>
        </p:nvSpPr>
        <p:spPr/>
        <p:txBody>
          <a:bodyPr>
            <a:normAutofit/>
          </a:bodyPr>
          <a:lstStyle/>
          <a:p>
            <a:r>
              <a:rPr lang="en-US" sz="5400">
                <a:solidFill>
                  <a:srgbClr val="27302B"/>
                </a:solidFill>
              </a:rPr>
              <a:t>Content Map</a:t>
            </a:r>
            <a:endParaRPr lang="en-US"/>
          </a:p>
        </p:txBody>
      </p:sp>
      <p:sp>
        <p:nvSpPr>
          <p:cNvPr id="516" name="TextBox 515">
            <a:extLst>
              <a:ext uri="{FF2B5EF4-FFF2-40B4-BE49-F238E27FC236}">
                <a16:creationId xmlns:a16="http://schemas.microsoft.com/office/drawing/2014/main" id="{1562CDB5-9652-56FD-2EB7-519B356D340A}"/>
              </a:ext>
            </a:extLst>
          </p:cNvPr>
          <p:cNvSpPr txBox="1"/>
          <p:nvPr/>
        </p:nvSpPr>
        <p:spPr>
          <a:xfrm>
            <a:off x="1530263" y="1373686"/>
            <a:ext cx="8317281" cy="53707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00000"/>
              </a:lnSpc>
            </a:pPr>
            <a:r>
              <a:rPr lang="en-US" sz="2500" b="1">
                <a:solidFill>
                  <a:srgbClr val="27302B"/>
                </a:solidFill>
                <a:latin typeface="Calibri"/>
                <a:ea typeface="Calibri"/>
                <a:cs typeface="Calibri"/>
              </a:rPr>
              <a:t>1. Introduction &amp; Motivation </a:t>
            </a:r>
          </a:p>
          <a:p>
            <a:pPr>
              <a:lnSpc>
                <a:spcPct val="200000"/>
              </a:lnSpc>
            </a:pPr>
            <a:r>
              <a:rPr lang="en-US" sz="2500" b="1">
                <a:solidFill>
                  <a:srgbClr val="27302B"/>
                </a:solidFill>
                <a:latin typeface="Calibri"/>
                <a:ea typeface="Calibri"/>
                <a:cs typeface="Calibri"/>
              </a:rPr>
              <a:t>2. Data Collection &amp; Processing </a:t>
            </a:r>
          </a:p>
          <a:p>
            <a:pPr>
              <a:lnSpc>
                <a:spcPct val="200000"/>
              </a:lnSpc>
            </a:pPr>
            <a:r>
              <a:rPr lang="en-US" sz="2500" b="1">
                <a:solidFill>
                  <a:srgbClr val="27302B"/>
                </a:solidFill>
                <a:latin typeface="Calibri"/>
                <a:ea typeface="Calibri"/>
                <a:cs typeface="Calibri"/>
              </a:rPr>
              <a:t>3. Sentiment Analysis Pipeline </a:t>
            </a:r>
          </a:p>
          <a:p>
            <a:pPr>
              <a:lnSpc>
                <a:spcPct val="200000"/>
              </a:lnSpc>
            </a:pPr>
            <a:r>
              <a:rPr lang="en-US" sz="2500" b="1">
                <a:solidFill>
                  <a:srgbClr val="27302B"/>
                </a:solidFill>
                <a:latin typeface="Calibri"/>
                <a:ea typeface="Calibri"/>
                <a:cs typeface="Calibri"/>
              </a:rPr>
              <a:t>4. Machine Learning Models </a:t>
            </a:r>
          </a:p>
          <a:p>
            <a:pPr>
              <a:lnSpc>
                <a:spcPct val="200000"/>
              </a:lnSpc>
            </a:pPr>
            <a:r>
              <a:rPr lang="en-US" sz="2500" b="1">
                <a:solidFill>
                  <a:srgbClr val="27302B"/>
                </a:solidFill>
                <a:latin typeface="Calibri"/>
                <a:ea typeface="Calibri"/>
                <a:cs typeface="Calibri"/>
              </a:rPr>
              <a:t>5. Results &amp; Discussion </a:t>
            </a:r>
          </a:p>
          <a:p>
            <a:pPr>
              <a:lnSpc>
                <a:spcPct val="200000"/>
              </a:lnSpc>
            </a:pPr>
            <a:r>
              <a:rPr lang="en-US" sz="2500" b="1">
                <a:solidFill>
                  <a:srgbClr val="27302B"/>
                </a:solidFill>
                <a:latin typeface="Calibri"/>
                <a:ea typeface="Calibri"/>
                <a:cs typeface="Calibri"/>
              </a:rPr>
              <a:t>6. Conclusions &amp; Future Work </a:t>
            </a:r>
          </a:p>
          <a:p>
            <a:pPr marL="228600">
              <a:lnSpc>
                <a:spcPct val="200000"/>
              </a:lnSpc>
            </a:pPr>
            <a:endParaRPr lang="en-US" sz="2500" b="1">
              <a:solidFill>
                <a:srgbClr val="27302B"/>
              </a:solidFill>
              <a:latin typeface="Calibri"/>
              <a:ea typeface="Calibri"/>
              <a:cs typeface="Arial"/>
            </a:endParaRPr>
          </a:p>
        </p:txBody>
      </p:sp>
      <p:pic>
        <p:nvPicPr>
          <p:cNvPr id="185" name="Picture 184" descr="Reddit redesigns its logo with new visual vibes | Designhill">
            <a:extLst>
              <a:ext uri="{FF2B5EF4-FFF2-40B4-BE49-F238E27FC236}">
                <a16:creationId xmlns:a16="http://schemas.microsoft.com/office/drawing/2014/main" id="{E97EFEE8-6F18-3368-B4C2-9B33880E3A0E}"/>
              </a:ext>
            </a:extLst>
          </p:cNvPr>
          <p:cNvPicPr>
            <a:picLocks noChangeAspect="1"/>
          </p:cNvPicPr>
          <p:nvPr/>
        </p:nvPicPr>
        <p:blipFill>
          <a:blip r:embed="rId4"/>
          <a:srcRect l="21972" t="3941" r="24695" b="11673"/>
          <a:stretch>
            <a:fillRect/>
          </a:stretch>
        </p:blipFill>
        <p:spPr>
          <a:xfrm>
            <a:off x="9269388" y="836620"/>
            <a:ext cx="2575914" cy="2333701"/>
          </a:xfrm>
          <a:prstGeom prst="rect">
            <a:avLst/>
          </a:prstGeom>
        </p:spPr>
      </p:pic>
      <p:pic>
        <p:nvPicPr>
          <p:cNvPr id="186" name="Graphic 185" descr="Bar graph with upward trend with solid fill">
            <a:extLst>
              <a:ext uri="{FF2B5EF4-FFF2-40B4-BE49-F238E27FC236}">
                <a16:creationId xmlns:a16="http://schemas.microsoft.com/office/drawing/2014/main" id="{9C2534A7-02E8-3393-D91F-4C9F74F3BFC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78436" y="3124200"/>
            <a:ext cx="2611581" cy="2590800"/>
          </a:xfrm>
          <a:prstGeom prst="rect">
            <a:avLst/>
          </a:prstGeom>
        </p:spPr>
      </p:pic>
    </p:spTree>
    <p:extLst>
      <p:ext uri="{BB962C8B-B14F-4D97-AF65-F5344CB8AC3E}">
        <p14:creationId xmlns:p14="http://schemas.microsoft.com/office/powerpoint/2010/main" val="3526283023"/>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EC1B9-1D44-D1C9-1FFD-497346EA4829}"/>
            </a:ext>
          </a:extLst>
        </p:cNvPr>
        <p:cNvGrpSpPr/>
        <p:nvPr/>
      </p:nvGrpSpPr>
      <p:grpSpPr>
        <a:xfrm>
          <a:off x="0" y="0"/>
          <a:ext cx="0" cy="0"/>
          <a:chOff x="0" y="0"/>
          <a:chExt cx="0" cy="0"/>
        </a:xfrm>
      </p:grpSpPr>
      <p:sp>
        <p:nvSpPr>
          <p:cNvPr id="5" name="Isosceles Triangle 4">
            <a:extLst>
              <a:ext uri="{FF2B5EF4-FFF2-40B4-BE49-F238E27FC236}">
                <a16:creationId xmlns:a16="http://schemas.microsoft.com/office/drawing/2014/main" id="{FDBA9023-08E0-B111-C1E6-CA3D1483EF55}"/>
              </a:ext>
            </a:extLst>
          </p:cNvPr>
          <p:cNvSpPr/>
          <p:nvPr/>
        </p:nvSpPr>
        <p:spPr>
          <a:xfrm>
            <a:off x="0" y="4318"/>
            <a:ext cx="24296775" cy="6849637"/>
          </a:xfrm>
          <a:prstGeom prst="triangle">
            <a:avLst/>
          </a:prstGeom>
          <a:solidFill>
            <a:srgbClr val="FC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C86278-5675-5175-AAF4-6279512A938B}"/>
              </a:ext>
            </a:extLst>
          </p:cNvPr>
          <p:cNvSpPr>
            <a:spLocks noGrp="1"/>
          </p:cNvSpPr>
          <p:nvPr>
            <p:ph type="title"/>
          </p:nvPr>
        </p:nvSpPr>
        <p:spPr>
          <a:xfrm>
            <a:off x="612648" y="548640"/>
            <a:ext cx="10741152" cy="1132258"/>
          </a:xfrm>
        </p:spPr>
        <p:txBody>
          <a:bodyPr anchor="t">
            <a:normAutofit/>
          </a:bodyPr>
          <a:lstStyle/>
          <a:p>
            <a:r>
              <a:rPr lang="en-US"/>
              <a:t>Introduction and Motivation</a:t>
            </a:r>
          </a:p>
        </p:txBody>
      </p:sp>
      <p:sp>
        <p:nvSpPr>
          <p:cNvPr id="3" name="Content Placeholder 2">
            <a:extLst>
              <a:ext uri="{FF2B5EF4-FFF2-40B4-BE49-F238E27FC236}">
                <a16:creationId xmlns:a16="http://schemas.microsoft.com/office/drawing/2014/main" id="{F9E651E7-4EF1-4CC4-20A0-A54D5C5B471A}"/>
              </a:ext>
            </a:extLst>
          </p:cNvPr>
          <p:cNvSpPr>
            <a:spLocks noGrp="1"/>
          </p:cNvSpPr>
          <p:nvPr>
            <p:ph sz="half" idx="1"/>
          </p:nvPr>
        </p:nvSpPr>
        <p:spPr>
          <a:xfrm>
            <a:off x="612648" y="1330910"/>
            <a:ext cx="7056476" cy="4892754"/>
          </a:xfrm>
        </p:spPr>
        <p:txBody>
          <a:bodyPr vert="horz" lIns="91440" tIns="45720" rIns="91440" bIns="45720" rtlCol="0" anchor="t">
            <a:noAutofit/>
          </a:bodyPr>
          <a:lstStyle/>
          <a:p>
            <a:pPr>
              <a:lnSpc>
                <a:spcPct val="110000"/>
              </a:lnSpc>
              <a:buNone/>
            </a:pPr>
            <a:r>
              <a:rPr lang="en-US" b="1"/>
              <a:t>Core Problem</a:t>
            </a:r>
          </a:p>
          <a:p>
            <a:pPr marL="0" indent="0">
              <a:lnSpc>
                <a:spcPct val="110000"/>
              </a:lnSpc>
              <a:buNone/>
            </a:pPr>
            <a:r>
              <a:rPr lang="en-US"/>
              <a:t>Our aim was to quantitatively analyze the relationship between Reddit discourse and subsequent market behavior. By leveraging NLP on post data and ML models, we attempted to determine if shifts in online sentiment and discussion themes correlate with, or even predict, changes in stock price and trading volume.</a:t>
            </a:r>
            <a:endParaRPr lang="en-US" b="1"/>
          </a:p>
          <a:p>
            <a:pPr marL="0" indent="0">
              <a:lnSpc>
                <a:spcPct val="110000"/>
              </a:lnSpc>
              <a:buNone/>
            </a:pPr>
            <a:r>
              <a:rPr lang="en-US" b="1"/>
              <a:t>Real-World Impact:</a:t>
            </a:r>
          </a:p>
          <a:p>
            <a:pPr marL="285750" indent="-285750">
              <a:lnSpc>
                <a:spcPct val="110000"/>
              </a:lnSpc>
            </a:pPr>
            <a:r>
              <a:rPr lang="en-US"/>
              <a:t>Traders can identify potential early signals for momentum or volatility trades.</a:t>
            </a:r>
          </a:p>
          <a:p>
            <a:pPr marL="285750" indent="-285750">
              <a:lnSpc>
                <a:spcPct val="110000"/>
              </a:lnSpc>
            </a:pPr>
            <a:r>
              <a:rPr lang="en-US"/>
              <a:t>Regulators are offered a framework to monitor  forums for signs of coordinated manipulation or systemic risk.</a:t>
            </a:r>
          </a:p>
          <a:p>
            <a:pPr indent="0">
              <a:lnSpc>
                <a:spcPct val="110000"/>
              </a:lnSpc>
              <a:buNone/>
            </a:pPr>
            <a:endParaRPr lang="en-US" sz="1400"/>
          </a:p>
          <a:p>
            <a:pPr marL="0" indent="0">
              <a:lnSpc>
                <a:spcPct val="110000"/>
              </a:lnSpc>
              <a:buNone/>
            </a:pPr>
            <a:endParaRPr lang="en-US" sz="1400" b="1"/>
          </a:p>
        </p:txBody>
      </p:sp>
      <p:pic>
        <p:nvPicPr>
          <p:cNvPr id="9" name="Picture 8" descr="Basic Introduction of Stocks and the Market | Jacobs's Blog">
            <a:extLst>
              <a:ext uri="{FF2B5EF4-FFF2-40B4-BE49-F238E27FC236}">
                <a16:creationId xmlns:a16="http://schemas.microsoft.com/office/drawing/2014/main" id="{F533DAAE-639B-8D53-CAEA-8CA14F916722}"/>
              </a:ext>
            </a:extLst>
          </p:cNvPr>
          <p:cNvPicPr>
            <a:picLocks noChangeAspect="1"/>
          </p:cNvPicPr>
          <p:nvPr/>
        </p:nvPicPr>
        <p:blipFill>
          <a:blip r:embed="rId4"/>
          <a:stretch>
            <a:fillRect/>
          </a:stretch>
        </p:blipFill>
        <p:spPr>
          <a:xfrm>
            <a:off x="7671837" y="1864230"/>
            <a:ext cx="4173566" cy="3120698"/>
          </a:xfrm>
          <a:prstGeom prst="rect">
            <a:avLst/>
          </a:prstGeom>
          <a:noFill/>
        </p:spPr>
      </p:pic>
      <p:sp>
        <p:nvSpPr>
          <p:cNvPr id="14" name="Date Placeholder 4">
            <a:extLst>
              <a:ext uri="{FF2B5EF4-FFF2-40B4-BE49-F238E27FC236}">
                <a16:creationId xmlns:a16="http://schemas.microsoft.com/office/drawing/2014/main" id="{28DA6945-6FAD-208D-F472-E58757253C63}"/>
              </a:ext>
            </a:extLst>
          </p:cNvPr>
          <p:cNvSpPr>
            <a:spLocks noGrp="1"/>
          </p:cNvSpPr>
          <p:nvPr>
            <p:ph type="dt" sz="half" idx="10"/>
          </p:nvPr>
        </p:nvSpPr>
        <p:spPr>
          <a:xfrm>
            <a:off x="137160" y="6453002"/>
            <a:ext cx="3494314" cy="365125"/>
          </a:xfrm>
        </p:spPr>
        <p:txBody>
          <a:bodyPr/>
          <a:lstStyle/>
          <a:p>
            <a:pPr>
              <a:spcAft>
                <a:spcPts val="600"/>
              </a:spcAft>
            </a:pPr>
            <a:fld id="{A7F11C6D-64FF-48F9-93FB-E8887B2C2A77}" type="datetime1">
              <a:rPr lang="en-US"/>
              <a:pPr>
                <a:spcAft>
                  <a:spcPts val="600"/>
                </a:spcAft>
              </a:pPr>
              <a:t>11/16/2025</a:t>
            </a:fld>
            <a:endParaRPr lang="en-US"/>
          </a:p>
        </p:txBody>
      </p:sp>
    </p:spTree>
    <p:extLst>
      <p:ext uri="{BB962C8B-B14F-4D97-AF65-F5344CB8AC3E}">
        <p14:creationId xmlns:p14="http://schemas.microsoft.com/office/powerpoint/2010/main" val="2674650064"/>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FBC72-DB73-0595-A2A4-68449D63253C}"/>
            </a:ext>
          </a:extLst>
        </p:cNvPr>
        <p:cNvGrpSpPr/>
        <p:nvPr/>
      </p:nvGrpSpPr>
      <p:grpSpPr>
        <a:xfrm>
          <a:off x="0" y="0"/>
          <a:ext cx="0" cy="0"/>
          <a:chOff x="0" y="0"/>
          <a:chExt cx="0" cy="0"/>
        </a:xfrm>
      </p:grpSpPr>
      <p:sp>
        <p:nvSpPr>
          <p:cNvPr id="5" name="Isosceles Triangle 4">
            <a:extLst>
              <a:ext uri="{FF2B5EF4-FFF2-40B4-BE49-F238E27FC236}">
                <a16:creationId xmlns:a16="http://schemas.microsoft.com/office/drawing/2014/main" id="{AA54EA01-B3BD-4899-4597-6E40581B9CD6}"/>
              </a:ext>
            </a:extLst>
          </p:cNvPr>
          <p:cNvSpPr/>
          <p:nvPr/>
        </p:nvSpPr>
        <p:spPr>
          <a:xfrm>
            <a:off x="-12192000" y="4318"/>
            <a:ext cx="24296775" cy="6849637"/>
          </a:xfrm>
          <a:prstGeom prst="triangle">
            <a:avLst/>
          </a:prstGeom>
          <a:solidFill>
            <a:srgbClr val="FC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0CC0F1-D63D-C912-117D-9CAD3E80D379}"/>
              </a:ext>
            </a:extLst>
          </p:cNvPr>
          <p:cNvSpPr>
            <a:spLocks noGrp="1"/>
          </p:cNvSpPr>
          <p:nvPr>
            <p:ph type="title"/>
          </p:nvPr>
        </p:nvSpPr>
        <p:spPr/>
        <p:txBody>
          <a:bodyPr/>
          <a:lstStyle/>
          <a:p>
            <a:r>
              <a:rPr lang="en-US" sz="5400">
                <a:solidFill>
                  <a:srgbClr val="27302B"/>
                </a:solidFill>
                <a:ea typeface="+mj-lt"/>
                <a:cs typeface="+mj-lt"/>
              </a:rPr>
              <a:t>Reddit Post Data Collection </a:t>
            </a:r>
            <a:endParaRPr lang="en-US" sz="5400">
              <a:solidFill>
                <a:srgbClr val="27302B"/>
              </a:solidFill>
            </a:endParaRPr>
          </a:p>
        </p:txBody>
      </p:sp>
      <p:sp>
        <p:nvSpPr>
          <p:cNvPr id="8" name="Content Placeholder 7">
            <a:extLst>
              <a:ext uri="{FF2B5EF4-FFF2-40B4-BE49-F238E27FC236}">
                <a16:creationId xmlns:a16="http://schemas.microsoft.com/office/drawing/2014/main" id="{4DF721C1-8693-0AA0-1B8D-024824AD51AC}"/>
              </a:ext>
            </a:extLst>
          </p:cNvPr>
          <p:cNvSpPr>
            <a:spLocks noGrp="1"/>
          </p:cNvSpPr>
          <p:nvPr>
            <p:ph sz="half" idx="1"/>
          </p:nvPr>
        </p:nvSpPr>
        <p:spPr>
          <a:xfrm>
            <a:off x="612648" y="1691154"/>
            <a:ext cx="5907740" cy="4907150"/>
          </a:xfrm>
        </p:spPr>
        <p:txBody>
          <a:bodyPr vert="horz" lIns="91440" tIns="45720" rIns="91440" bIns="45720" rtlCol="0" anchor="t">
            <a:noAutofit/>
          </a:bodyPr>
          <a:lstStyle/>
          <a:p>
            <a:r>
              <a:rPr lang="en-US" sz="2400"/>
              <a:t>Collected real-time stock posts from 4 subreddits (July 2024-current)</a:t>
            </a:r>
          </a:p>
          <a:p>
            <a:pPr lvl="1">
              <a:buFont typeface="Courier New" panose="020B0604020202020204" pitchFamily="34" charset="0"/>
              <a:buChar char="o"/>
            </a:pPr>
            <a:r>
              <a:rPr lang="en-US" sz="2000">
                <a:ea typeface="+mn-lt"/>
                <a:cs typeface="+mn-lt"/>
              </a:rPr>
              <a:t>r/stocks, r/</a:t>
            </a:r>
            <a:r>
              <a:rPr lang="en-US" sz="2000" err="1">
                <a:ea typeface="+mn-lt"/>
                <a:cs typeface="+mn-lt"/>
              </a:rPr>
              <a:t>wallstreetbets</a:t>
            </a:r>
            <a:r>
              <a:rPr lang="en-US" sz="2000">
                <a:ea typeface="+mn-lt"/>
                <a:cs typeface="+mn-lt"/>
              </a:rPr>
              <a:t>, r/</a:t>
            </a:r>
            <a:r>
              <a:rPr lang="en-US" sz="2000" err="1">
                <a:ea typeface="+mn-lt"/>
                <a:cs typeface="+mn-lt"/>
              </a:rPr>
              <a:t>superstonk</a:t>
            </a:r>
            <a:r>
              <a:rPr lang="en-US" sz="2000">
                <a:ea typeface="+mn-lt"/>
                <a:cs typeface="+mn-lt"/>
              </a:rPr>
              <a:t>, &amp; r/investing</a:t>
            </a:r>
            <a:endParaRPr lang="en-US" sz="2000"/>
          </a:p>
          <a:p>
            <a:r>
              <a:rPr lang="en-US" sz="2400"/>
              <a:t>Recent, yearly top, and all-time top posts</a:t>
            </a:r>
          </a:p>
          <a:p>
            <a:r>
              <a:rPr lang="en-US" sz="2400">
                <a:ea typeface="+mn-lt"/>
                <a:cs typeface="+mn-lt"/>
              </a:rPr>
              <a:t>Limitations: </a:t>
            </a:r>
          </a:p>
          <a:p>
            <a:pPr lvl="1">
              <a:buFont typeface="Courier New" panose="020B0604020202020204" pitchFamily="34" charset="0"/>
              <a:buChar char="o"/>
            </a:pPr>
            <a:r>
              <a:rPr lang="en-US" sz="2000">
                <a:ea typeface="+mn-lt"/>
                <a:cs typeface="+mn-lt"/>
              </a:rPr>
              <a:t>Skew toward recent posts, fewer older ones</a:t>
            </a:r>
          </a:p>
          <a:p>
            <a:pPr lvl="1">
              <a:buFont typeface="Courier New" panose="020B0604020202020204" pitchFamily="34" charset="0"/>
              <a:buChar char="o"/>
            </a:pPr>
            <a:r>
              <a:rPr lang="en-US" sz="2000"/>
              <a:t>Data does not automatically update with recent posts/changes unless rerun notebook</a:t>
            </a:r>
          </a:p>
        </p:txBody>
      </p:sp>
      <p:pic>
        <p:nvPicPr>
          <p:cNvPr id="3" name="Content Placeholder 2" descr="A graph of blue lines&#10;&#10;AI-generated content may be incorrect.">
            <a:extLst>
              <a:ext uri="{FF2B5EF4-FFF2-40B4-BE49-F238E27FC236}">
                <a16:creationId xmlns:a16="http://schemas.microsoft.com/office/drawing/2014/main" id="{FAB31D9E-1043-7475-A203-0E760770B1B5}"/>
              </a:ext>
            </a:extLst>
          </p:cNvPr>
          <p:cNvPicPr>
            <a:picLocks noGrp="1" noChangeAspect="1"/>
          </p:cNvPicPr>
          <p:nvPr>
            <p:ph sz="half" idx="2"/>
          </p:nvPr>
        </p:nvPicPr>
        <p:blipFill>
          <a:blip r:embed="rId4"/>
          <a:stretch>
            <a:fillRect/>
          </a:stretch>
        </p:blipFill>
        <p:spPr>
          <a:xfrm>
            <a:off x="6520705" y="2711334"/>
            <a:ext cx="5181601" cy="2061228"/>
          </a:xfrm>
          <a:prstGeom prst="rect">
            <a:avLst/>
          </a:prstGeom>
          <a:ln w="12700">
            <a:solidFill>
              <a:schemeClr val="tx1"/>
            </a:solidFill>
          </a:ln>
        </p:spPr>
      </p:pic>
      <p:cxnSp>
        <p:nvCxnSpPr>
          <p:cNvPr id="6" name="Straight Arrow Connector 5">
            <a:extLst>
              <a:ext uri="{FF2B5EF4-FFF2-40B4-BE49-F238E27FC236}">
                <a16:creationId xmlns:a16="http://schemas.microsoft.com/office/drawing/2014/main" id="{C8A5E0A8-7D96-B0ED-700E-1AA279BDD87C}"/>
              </a:ext>
            </a:extLst>
          </p:cNvPr>
          <p:cNvCxnSpPr>
            <a:cxnSpLocks/>
          </p:cNvCxnSpPr>
          <p:nvPr/>
        </p:nvCxnSpPr>
        <p:spPr>
          <a:xfrm flipV="1">
            <a:off x="11174819" y="3189767"/>
            <a:ext cx="404533" cy="106325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845399"/>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A0272-6EF8-C5C4-4522-2982CC625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2541C-62B9-30AF-D998-11083643421C}"/>
              </a:ext>
            </a:extLst>
          </p:cNvPr>
          <p:cNvSpPr>
            <a:spLocks noGrp="1"/>
          </p:cNvSpPr>
          <p:nvPr>
            <p:ph type="title"/>
          </p:nvPr>
        </p:nvSpPr>
        <p:spPr/>
        <p:txBody>
          <a:bodyPr/>
          <a:lstStyle/>
          <a:p>
            <a:r>
              <a:rPr lang="en-US" sz="5400">
                <a:solidFill>
                  <a:srgbClr val="27302B"/>
                </a:solidFill>
                <a:ea typeface="+mj-lt"/>
                <a:cs typeface="+mj-lt"/>
              </a:rPr>
              <a:t>Financial Data Collection </a:t>
            </a:r>
            <a:endParaRPr lang="en-US" sz="5400">
              <a:solidFill>
                <a:srgbClr val="27302B"/>
              </a:solidFill>
            </a:endParaRPr>
          </a:p>
        </p:txBody>
      </p:sp>
      <p:sp>
        <p:nvSpPr>
          <p:cNvPr id="8" name="Content Placeholder 7">
            <a:extLst>
              <a:ext uri="{FF2B5EF4-FFF2-40B4-BE49-F238E27FC236}">
                <a16:creationId xmlns:a16="http://schemas.microsoft.com/office/drawing/2014/main" id="{1BF6DD18-8C39-E156-4144-5000EF4BF5F5}"/>
              </a:ext>
            </a:extLst>
          </p:cNvPr>
          <p:cNvSpPr>
            <a:spLocks noGrp="1"/>
          </p:cNvSpPr>
          <p:nvPr>
            <p:ph sz="half" idx="1"/>
          </p:nvPr>
        </p:nvSpPr>
        <p:spPr>
          <a:xfrm>
            <a:off x="612648" y="1417323"/>
            <a:ext cx="10617200" cy="4923222"/>
          </a:xfrm>
        </p:spPr>
        <p:txBody>
          <a:bodyPr vert="horz" lIns="91440" tIns="45720" rIns="91440" bIns="45720" rtlCol="0" anchor="t">
            <a:normAutofit/>
          </a:bodyPr>
          <a:lstStyle/>
          <a:p>
            <a:r>
              <a:rPr lang="en-US">
                <a:solidFill>
                  <a:srgbClr val="27302B"/>
                </a:solidFill>
              </a:rPr>
              <a:t>Built a daily </a:t>
            </a:r>
            <a:r>
              <a:rPr lang="en-US" i="1">
                <a:solidFill>
                  <a:srgbClr val="27302B"/>
                </a:solidFill>
              </a:rPr>
              <a:t>date x ticker</a:t>
            </a:r>
            <a:r>
              <a:rPr lang="en-US">
                <a:solidFill>
                  <a:srgbClr val="27302B"/>
                </a:solidFill>
              </a:rPr>
              <a:t> panel to compare subreddit mentions with market performance</a:t>
            </a:r>
            <a:endParaRPr lang="en-US"/>
          </a:p>
          <a:p>
            <a:r>
              <a:rPr lang="en-US">
                <a:solidFill>
                  <a:srgbClr val="27302B"/>
                </a:solidFill>
              </a:rPr>
              <a:t>Utilized </a:t>
            </a:r>
            <a:r>
              <a:rPr lang="en-US" b="1" err="1">
                <a:solidFill>
                  <a:srgbClr val="27302B"/>
                </a:solidFill>
              </a:rPr>
              <a:t>yfinance</a:t>
            </a:r>
            <a:r>
              <a:rPr lang="en-US" b="1">
                <a:solidFill>
                  <a:srgbClr val="27302B"/>
                </a:solidFill>
              </a:rPr>
              <a:t> </a:t>
            </a:r>
            <a:r>
              <a:rPr lang="en-US">
                <a:solidFill>
                  <a:srgbClr val="27302B"/>
                </a:solidFill>
              </a:rPr>
              <a:t>package to download Adjusted Close prices for all tickers mentioned</a:t>
            </a:r>
          </a:p>
          <a:p>
            <a:r>
              <a:rPr lang="en-US">
                <a:solidFill>
                  <a:srgbClr val="27302B"/>
                </a:solidFill>
              </a:rPr>
              <a:t>Compute </a:t>
            </a:r>
            <a:r>
              <a:rPr lang="en-US">
                <a:solidFill>
                  <a:srgbClr val="0070C0"/>
                </a:solidFill>
              </a:rPr>
              <a:t>daily return</a:t>
            </a:r>
            <a:r>
              <a:rPr lang="en-US">
                <a:solidFill>
                  <a:srgbClr val="27302B"/>
                </a:solidFill>
              </a:rPr>
              <a:t>, </a:t>
            </a:r>
            <a:r>
              <a:rPr lang="en-US">
                <a:solidFill>
                  <a:srgbClr val="FFC000"/>
                </a:solidFill>
              </a:rPr>
              <a:t>cumulative growth of $1</a:t>
            </a:r>
            <a:r>
              <a:rPr lang="en-US">
                <a:solidFill>
                  <a:srgbClr val="27302B"/>
                </a:solidFill>
              </a:rPr>
              <a:t>, and </a:t>
            </a:r>
            <a:r>
              <a:rPr lang="en-US">
                <a:solidFill>
                  <a:srgbClr val="00B050"/>
                </a:solidFill>
              </a:rPr>
              <a:t>excess return vs. SPY</a:t>
            </a:r>
          </a:p>
          <a:p>
            <a:r>
              <a:rPr lang="en-US">
                <a:solidFill>
                  <a:srgbClr val="27302B"/>
                </a:solidFill>
              </a:rPr>
              <a:t>Exports three files: </a:t>
            </a:r>
          </a:p>
          <a:p>
            <a:pPr lvl="1"/>
            <a:endParaRPr lang="en-US">
              <a:solidFill>
                <a:srgbClr val="27302B"/>
              </a:solidFill>
            </a:endParaRPr>
          </a:p>
          <a:p>
            <a:endParaRPr lang="en-US">
              <a:solidFill>
                <a:srgbClr val="27302B"/>
              </a:solidFill>
            </a:endParaRPr>
          </a:p>
          <a:p>
            <a:endParaRPr lang="en-US">
              <a:solidFill>
                <a:srgbClr val="27302B"/>
              </a:solidFill>
            </a:endParaRPr>
          </a:p>
          <a:p>
            <a:endParaRPr lang="en-US">
              <a:solidFill>
                <a:srgbClr val="27302B"/>
              </a:solidFill>
            </a:endParaRPr>
          </a:p>
          <a:p>
            <a:r>
              <a:rPr lang="en-US">
                <a:solidFill>
                  <a:srgbClr val="27302B"/>
                </a:solidFill>
              </a:rPr>
              <a:t>To</a:t>
            </a:r>
            <a:r>
              <a:rPr lang="en-US" sz="2000">
                <a:solidFill>
                  <a:srgbClr val="27302B"/>
                </a:solidFill>
              </a:rPr>
              <a:t> be rejoined with Reddit</a:t>
            </a:r>
            <a:r>
              <a:rPr lang="en-US">
                <a:solidFill>
                  <a:srgbClr val="27302B"/>
                </a:solidFill>
              </a:rPr>
              <a:t> data</a:t>
            </a:r>
            <a:r>
              <a:rPr lang="en-US" sz="2000">
                <a:solidFill>
                  <a:srgbClr val="27302B"/>
                </a:solidFill>
              </a:rPr>
              <a:t> table</a:t>
            </a:r>
            <a:endParaRPr lang="en-US"/>
          </a:p>
        </p:txBody>
      </p:sp>
      <p:sp>
        <p:nvSpPr>
          <p:cNvPr id="3" name="Rectangle: Rounded Corners 2">
            <a:extLst>
              <a:ext uri="{FF2B5EF4-FFF2-40B4-BE49-F238E27FC236}">
                <a16:creationId xmlns:a16="http://schemas.microsoft.com/office/drawing/2014/main" id="{7137D402-4937-3E11-5A74-6A58EB50CEB8}"/>
              </a:ext>
            </a:extLst>
          </p:cNvPr>
          <p:cNvSpPr/>
          <p:nvPr/>
        </p:nvSpPr>
        <p:spPr>
          <a:xfrm>
            <a:off x="4550229" y="3885171"/>
            <a:ext cx="2322614" cy="151113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7302B"/>
                </a:solidFill>
                <a:latin typeface="Calibri"/>
                <a:ea typeface="Calibri"/>
                <a:cs typeface="Calibri"/>
              </a:rPr>
              <a:t>Features_long_*.csv</a:t>
            </a:r>
            <a:r>
              <a:rPr lang="en-US">
                <a:solidFill>
                  <a:srgbClr val="27302B"/>
                </a:solidFill>
                <a:latin typeface="Calibri"/>
                <a:ea typeface="Calibri"/>
                <a:cs typeface="Calibri"/>
              </a:rPr>
              <a:t> (date, ticker, </a:t>
            </a:r>
            <a:endParaRPr lang="en-US">
              <a:solidFill>
                <a:srgbClr val="FFFFFF"/>
              </a:solidFill>
              <a:latin typeface="Neue Haas Grotesk Text Pro"/>
              <a:ea typeface="Calibri"/>
              <a:cs typeface="Calibri"/>
            </a:endParaRPr>
          </a:p>
          <a:p>
            <a:pPr algn="ctr"/>
            <a:r>
              <a:rPr lang="en-US">
                <a:solidFill>
                  <a:srgbClr val="27302B"/>
                </a:solidFill>
                <a:latin typeface="Calibri"/>
                <a:ea typeface="Calibri"/>
                <a:cs typeface="Calibri"/>
              </a:rPr>
              <a:t>and features)</a:t>
            </a:r>
            <a:endParaRPr lang="en-US"/>
          </a:p>
        </p:txBody>
      </p:sp>
      <p:sp>
        <p:nvSpPr>
          <p:cNvPr id="4" name="Rectangle: Rounded Corners 3">
            <a:extLst>
              <a:ext uri="{FF2B5EF4-FFF2-40B4-BE49-F238E27FC236}">
                <a16:creationId xmlns:a16="http://schemas.microsoft.com/office/drawing/2014/main" id="{3941C834-9812-7739-F3F4-DA4406EB740D}"/>
              </a:ext>
            </a:extLst>
          </p:cNvPr>
          <p:cNvSpPr/>
          <p:nvPr/>
        </p:nvSpPr>
        <p:spPr>
          <a:xfrm>
            <a:off x="1610795" y="3884356"/>
            <a:ext cx="2165266" cy="1515092"/>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27302B"/>
                </a:solidFill>
                <a:latin typeface="Calibri"/>
              </a:rPr>
              <a:t>Adj_close_*.csv</a:t>
            </a:r>
            <a:r>
              <a:rPr lang="en-US">
                <a:solidFill>
                  <a:srgbClr val="27302B"/>
                </a:solidFill>
                <a:latin typeface="Calibri"/>
              </a:rPr>
              <a:t> </a:t>
            </a:r>
            <a:endParaRPr lang="en-US">
              <a:solidFill>
                <a:srgbClr val="FFFFFF"/>
              </a:solidFill>
              <a:latin typeface="Neue Haas Grotesk Text Pro"/>
            </a:endParaRPr>
          </a:p>
          <a:p>
            <a:pPr algn="ctr"/>
            <a:r>
              <a:rPr lang="en-US">
                <a:solidFill>
                  <a:srgbClr val="27302B"/>
                </a:solidFill>
                <a:latin typeface="Calibri"/>
              </a:rPr>
              <a:t>(wide daily prices)</a:t>
            </a:r>
            <a:endParaRPr lang="en-US"/>
          </a:p>
        </p:txBody>
      </p:sp>
      <p:sp>
        <p:nvSpPr>
          <p:cNvPr id="5" name="Rectangle: Rounded Corners 4">
            <a:extLst>
              <a:ext uri="{FF2B5EF4-FFF2-40B4-BE49-F238E27FC236}">
                <a16:creationId xmlns:a16="http://schemas.microsoft.com/office/drawing/2014/main" id="{E0A6240C-A766-256A-4E0B-865DC8587598}"/>
              </a:ext>
            </a:extLst>
          </p:cNvPr>
          <p:cNvSpPr/>
          <p:nvPr/>
        </p:nvSpPr>
        <p:spPr>
          <a:xfrm>
            <a:off x="7732059" y="3872442"/>
            <a:ext cx="2386939" cy="152597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27302B"/>
                </a:solidFill>
                <a:latin typeface="Calibri"/>
              </a:rPr>
              <a:t>Summary_*.csv</a:t>
            </a:r>
            <a:r>
              <a:rPr lang="en-US">
                <a:solidFill>
                  <a:srgbClr val="27302B"/>
                </a:solidFill>
                <a:latin typeface="Calibri"/>
              </a:rPr>
              <a:t> </a:t>
            </a:r>
            <a:endParaRPr lang="en-US">
              <a:solidFill>
                <a:srgbClr val="FFFFFF"/>
              </a:solidFill>
              <a:latin typeface="Neue Haas Grotesk Text Pro"/>
            </a:endParaRPr>
          </a:p>
          <a:p>
            <a:pPr algn="ctr"/>
            <a:r>
              <a:rPr lang="en-US">
                <a:solidFill>
                  <a:srgbClr val="27302B"/>
                </a:solidFill>
                <a:latin typeface="Calibri"/>
              </a:rPr>
              <a:t>(period return and outperformance vs. SPY)</a:t>
            </a:r>
            <a:endParaRPr lang="en-US"/>
          </a:p>
        </p:txBody>
      </p:sp>
    </p:spTree>
    <p:extLst>
      <p:ext uri="{BB962C8B-B14F-4D97-AF65-F5344CB8AC3E}">
        <p14:creationId xmlns:p14="http://schemas.microsoft.com/office/powerpoint/2010/main" val="77487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30B84-61EC-C467-EC3F-53ACFBB1FA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51DCC-F02A-A069-C37F-C0380432C635}"/>
              </a:ext>
            </a:extLst>
          </p:cNvPr>
          <p:cNvSpPr>
            <a:spLocks noGrp="1"/>
          </p:cNvSpPr>
          <p:nvPr>
            <p:ph type="title"/>
          </p:nvPr>
        </p:nvSpPr>
        <p:spPr/>
        <p:txBody>
          <a:bodyPr>
            <a:normAutofit/>
          </a:bodyPr>
          <a:lstStyle/>
          <a:p>
            <a:r>
              <a:rPr lang="en-US" sz="5400">
                <a:solidFill>
                  <a:srgbClr val="27302B"/>
                </a:solidFill>
                <a:ea typeface="+mj-lt"/>
                <a:cs typeface="+mj-lt"/>
              </a:rPr>
              <a:t>Exploratory Data Analysis</a:t>
            </a:r>
            <a:endParaRPr lang="en-US" sz="5400">
              <a:solidFill>
                <a:srgbClr val="27302B"/>
              </a:solidFill>
            </a:endParaRPr>
          </a:p>
        </p:txBody>
      </p:sp>
      <p:sp>
        <p:nvSpPr>
          <p:cNvPr id="6" name="TextBox 5">
            <a:extLst>
              <a:ext uri="{FF2B5EF4-FFF2-40B4-BE49-F238E27FC236}">
                <a16:creationId xmlns:a16="http://schemas.microsoft.com/office/drawing/2014/main" id="{939ACA62-8CD0-6428-9382-82D8F47A415B}"/>
              </a:ext>
            </a:extLst>
          </p:cNvPr>
          <p:cNvSpPr txBox="1"/>
          <p:nvPr/>
        </p:nvSpPr>
        <p:spPr>
          <a:xfrm>
            <a:off x="615680" y="1677899"/>
            <a:ext cx="396507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t># of Reddit </a:t>
            </a:r>
            <a:r>
              <a:rPr lang="en-US" b="1" err="1"/>
              <a:t>DataFrame</a:t>
            </a:r>
            <a:r>
              <a:rPr lang="en-US" b="1">
                <a:ea typeface="+mn-lt"/>
                <a:cs typeface="+mn-lt"/>
              </a:rPr>
              <a:t> Rows</a:t>
            </a:r>
            <a:r>
              <a:rPr lang="en-US">
                <a:ea typeface="+mn-lt"/>
                <a:cs typeface="+mn-lt"/>
              </a:rPr>
              <a:t>: 6452</a:t>
            </a:r>
            <a:endParaRPr lang="en-US"/>
          </a:p>
          <a:p>
            <a:pPr marL="285750" indent="-285750">
              <a:buFont typeface="Arial"/>
              <a:buChar char="•"/>
            </a:pPr>
            <a:r>
              <a:rPr lang="en-US" b="1"/>
              <a:t># of </a:t>
            </a:r>
            <a:r>
              <a:rPr lang="en-US" b="1" err="1"/>
              <a:t>DataFrame</a:t>
            </a:r>
            <a:r>
              <a:rPr lang="en-US" b="1"/>
              <a:t> After Reddit &amp; </a:t>
            </a:r>
            <a:r>
              <a:rPr lang="en-US" b="1" err="1"/>
              <a:t>YFinance</a:t>
            </a:r>
            <a:r>
              <a:rPr lang="en-US" b="1"/>
              <a:t> Merge Rows</a:t>
            </a:r>
            <a:r>
              <a:rPr lang="en-US"/>
              <a:t>: </a:t>
            </a:r>
            <a:r>
              <a:rPr lang="en-US">
                <a:ea typeface="+mn-lt"/>
                <a:cs typeface="+mn-lt"/>
              </a:rPr>
              <a:t>1,752</a:t>
            </a:r>
            <a:endParaRPr lang="en-US"/>
          </a:p>
        </p:txBody>
      </p:sp>
      <p:pic>
        <p:nvPicPr>
          <p:cNvPr id="14" name="Picture 13" descr="A word cloud of words&#10;&#10;AI-generated content may be incorrect.">
            <a:extLst>
              <a:ext uri="{FF2B5EF4-FFF2-40B4-BE49-F238E27FC236}">
                <a16:creationId xmlns:a16="http://schemas.microsoft.com/office/drawing/2014/main" id="{75B45F4B-6621-0656-3811-8E0FF58CCBF6}"/>
              </a:ext>
            </a:extLst>
          </p:cNvPr>
          <p:cNvPicPr>
            <a:picLocks noChangeAspect="1"/>
          </p:cNvPicPr>
          <p:nvPr/>
        </p:nvPicPr>
        <p:blipFill>
          <a:blip r:embed="rId4"/>
          <a:stretch>
            <a:fillRect/>
          </a:stretch>
        </p:blipFill>
        <p:spPr>
          <a:xfrm>
            <a:off x="329332" y="4042733"/>
            <a:ext cx="4919753" cy="2568157"/>
          </a:xfrm>
          <a:prstGeom prst="rect">
            <a:avLst/>
          </a:prstGeom>
        </p:spPr>
      </p:pic>
      <p:pic>
        <p:nvPicPr>
          <p:cNvPr id="15" name="Picture 14" descr="A graph with blue dots&#10;&#10;AI-generated content may be incorrect.">
            <a:extLst>
              <a:ext uri="{FF2B5EF4-FFF2-40B4-BE49-F238E27FC236}">
                <a16:creationId xmlns:a16="http://schemas.microsoft.com/office/drawing/2014/main" id="{B35CC475-8D8B-D0E7-20AF-9C4811C01906}"/>
              </a:ext>
            </a:extLst>
          </p:cNvPr>
          <p:cNvPicPr>
            <a:picLocks noChangeAspect="1"/>
          </p:cNvPicPr>
          <p:nvPr/>
        </p:nvPicPr>
        <p:blipFill>
          <a:blip r:embed="rId5"/>
          <a:stretch>
            <a:fillRect/>
          </a:stretch>
        </p:blipFill>
        <p:spPr>
          <a:xfrm>
            <a:off x="6100492" y="4042734"/>
            <a:ext cx="4491128" cy="2697552"/>
          </a:xfrm>
          <a:prstGeom prst="rect">
            <a:avLst/>
          </a:prstGeom>
        </p:spPr>
      </p:pic>
      <p:pic>
        <p:nvPicPr>
          <p:cNvPr id="16" name="Picture 15" descr="A chart of different colored squares&#10;&#10;AI-generated content may be incorrect.">
            <a:extLst>
              <a:ext uri="{FF2B5EF4-FFF2-40B4-BE49-F238E27FC236}">
                <a16:creationId xmlns:a16="http://schemas.microsoft.com/office/drawing/2014/main" id="{E625FA33-63AC-7BE2-01AF-19851E05B602}"/>
              </a:ext>
            </a:extLst>
          </p:cNvPr>
          <p:cNvPicPr>
            <a:picLocks noChangeAspect="1"/>
          </p:cNvPicPr>
          <p:nvPr/>
        </p:nvPicPr>
        <p:blipFill>
          <a:blip r:embed="rId6"/>
          <a:stretch>
            <a:fillRect/>
          </a:stretch>
        </p:blipFill>
        <p:spPr>
          <a:xfrm>
            <a:off x="5116991" y="1327210"/>
            <a:ext cx="6472508" cy="2708336"/>
          </a:xfrm>
          <a:prstGeom prst="rect">
            <a:avLst/>
          </a:prstGeom>
        </p:spPr>
      </p:pic>
      <p:sp>
        <p:nvSpPr>
          <p:cNvPr id="3" name="Oval 2">
            <a:extLst>
              <a:ext uri="{FF2B5EF4-FFF2-40B4-BE49-F238E27FC236}">
                <a16:creationId xmlns:a16="http://schemas.microsoft.com/office/drawing/2014/main" id="{91F19BFD-2ACF-E86A-17A5-D06B00D78817}"/>
              </a:ext>
            </a:extLst>
          </p:cNvPr>
          <p:cNvSpPr/>
          <p:nvPr/>
        </p:nvSpPr>
        <p:spPr>
          <a:xfrm>
            <a:off x="8208335" y="2200940"/>
            <a:ext cx="202018" cy="258528"/>
          </a:xfrm>
          <a:prstGeom prst="ellipse">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9" name="Oval 8">
            <a:extLst>
              <a:ext uri="{FF2B5EF4-FFF2-40B4-BE49-F238E27FC236}">
                <a16:creationId xmlns:a16="http://schemas.microsoft.com/office/drawing/2014/main" id="{BFD71C4E-BD21-D993-8720-90902D55BF00}"/>
              </a:ext>
            </a:extLst>
          </p:cNvPr>
          <p:cNvSpPr/>
          <p:nvPr/>
        </p:nvSpPr>
        <p:spPr>
          <a:xfrm>
            <a:off x="8194303" y="2140492"/>
            <a:ext cx="216050" cy="329610"/>
          </a:xfrm>
          <a:prstGeom prst="ellipse">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10" name="Oval 9">
            <a:extLst>
              <a:ext uri="{FF2B5EF4-FFF2-40B4-BE49-F238E27FC236}">
                <a16:creationId xmlns:a16="http://schemas.microsoft.com/office/drawing/2014/main" id="{875FD418-8012-2C52-11BD-7E85652B899D}"/>
              </a:ext>
            </a:extLst>
          </p:cNvPr>
          <p:cNvSpPr/>
          <p:nvPr/>
        </p:nvSpPr>
        <p:spPr>
          <a:xfrm>
            <a:off x="2158410" y="5858540"/>
            <a:ext cx="1573620" cy="798691"/>
          </a:xfrm>
          <a:prstGeom prst="ellipse">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11" name="Oval 10">
            <a:extLst>
              <a:ext uri="{FF2B5EF4-FFF2-40B4-BE49-F238E27FC236}">
                <a16:creationId xmlns:a16="http://schemas.microsoft.com/office/drawing/2014/main" id="{A209F32E-D908-EDC7-803A-2DDFD624FE3C}"/>
              </a:ext>
            </a:extLst>
          </p:cNvPr>
          <p:cNvSpPr/>
          <p:nvPr/>
        </p:nvSpPr>
        <p:spPr>
          <a:xfrm>
            <a:off x="6539023" y="5858540"/>
            <a:ext cx="1078524" cy="752350"/>
          </a:xfrm>
          <a:prstGeom prst="ellipse">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Tree>
    <p:extLst>
      <p:ext uri="{BB962C8B-B14F-4D97-AF65-F5344CB8AC3E}">
        <p14:creationId xmlns:p14="http://schemas.microsoft.com/office/powerpoint/2010/main" val="2232512097"/>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6579F-B87E-EAC8-CABB-89201E0BA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4BF48-0AD3-5D9D-8EBC-1575AFE306DE}"/>
              </a:ext>
            </a:extLst>
          </p:cNvPr>
          <p:cNvSpPr>
            <a:spLocks noGrp="1"/>
          </p:cNvSpPr>
          <p:nvPr>
            <p:ph type="title"/>
          </p:nvPr>
        </p:nvSpPr>
        <p:spPr/>
        <p:txBody>
          <a:bodyPr>
            <a:normAutofit fontScale="90000"/>
          </a:bodyPr>
          <a:lstStyle/>
          <a:p>
            <a:r>
              <a:rPr lang="en-US" sz="5400">
                <a:solidFill>
                  <a:srgbClr val="27302B"/>
                </a:solidFill>
                <a:ea typeface="+mj-lt"/>
                <a:cs typeface="+mj-lt"/>
              </a:rPr>
              <a:t>Experimental Results </a:t>
            </a:r>
            <a:br>
              <a:rPr lang="en-US" sz="5400">
                <a:ea typeface="+mj-lt"/>
                <a:cs typeface="+mj-lt"/>
              </a:rPr>
            </a:br>
            <a:endParaRPr lang="en-US" sz="5400">
              <a:solidFill>
                <a:srgbClr val="27302B"/>
              </a:solidFill>
            </a:endParaRPr>
          </a:p>
        </p:txBody>
      </p:sp>
      <p:sp>
        <p:nvSpPr>
          <p:cNvPr id="8" name="TextBox 7">
            <a:extLst>
              <a:ext uri="{FF2B5EF4-FFF2-40B4-BE49-F238E27FC236}">
                <a16:creationId xmlns:a16="http://schemas.microsoft.com/office/drawing/2014/main" id="{6AEAFCA1-6DBD-9DC3-CA30-DCBF315E7932}"/>
              </a:ext>
            </a:extLst>
          </p:cNvPr>
          <p:cNvSpPr txBox="1"/>
          <p:nvPr/>
        </p:nvSpPr>
        <p:spPr>
          <a:xfrm>
            <a:off x="642049" y="1404481"/>
            <a:ext cx="1009220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Model 1: Vader Sentiment Analysis: </a:t>
            </a:r>
          </a:p>
          <a:p>
            <a:pPr marL="285750" indent="-285750">
              <a:buFont typeface="Arial,Sans-Serif"/>
              <a:buChar char="•"/>
            </a:pPr>
            <a:r>
              <a:rPr lang="en-US" sz="2000"/>
              <a:t>Analyzed cleaned post text, generating sentiment scores</a:t>
            </a:r>
          </a:p>
          <a:p>
            <a:pPr marL="285750" indent="-285750">
              <a:buFont typeface="Arial,Sans-Serif"/>
              <a:buChar char="•"/>
            </a:pPr>
            <a:r>
              <a:rPr lang="en-US" sz="2000"/>
              <a:t>Calculated daily average sentiment score for each stock </a:t>
            </a:r>
          </a:p>
        </p:txBody>
      </p:sp>
      <p:pic>
        <p:nvPicPr>
          <p:cNvPr id="3" name="Picture 2">
            <a:extLst>
              <a:ext uri="{FF2B5EF4-FFF2-40B4-BE49-F238E27FC236}">
                <a16:creationId xmlns:a16="http://schemas.microsoft.com/office/drawing/2014/main" id="{6EA15643-A9E7-7414-07B1-99A1FE5839E2}"/>
              </a:ext>
            </a:extLst>
          </p:cNvPr>
          <p:cNvPicPr>
            <a:picLocks noChangeAspect="1"/>
          </p:cNvPicPr>
          <p:nvPr/>
        </p:nvPicPr>
        <p:blipFill>
          <a:blip r:embed="rId3"/>
          <a:stretch>
            <a:fillRect/>
          </a:stretch>
        </p:blipFill>
        <p:spPr>
          <a:xfrm>
            <a:off x="659607" y="2990832"/>
            <a:ext cx="10806355" cy="2431279"/>
          </a:xfrm>
          <a:prstGeom prst="rect">
            <a:avLst/>
          </a:prstGeom>
        </p:spPr>
      </p:pic>
      <p:sp>
        <p:nvSpPr>
          <p:cNvPr id="4" name="Oval 3">
            <a:extLst>
              <a:ext uri="{FF2B5EF4-FFF2-40B4-BE49-F238E27FC236}">
                <a16:creationId xmlns:a16="http://schemas.microsoft.com/office/drawing/2014/main" id="{50986819-5632-AACB-95C6-2E379FF8D17B}"/>
              </a:ext>
            </a:extLst>
          </p:cNvPr>
          <p:cNvSpPr/>
          <p:nvPr/>
        </p:nvSpPr>
        <p:spPr>
          <a:xfrm>
            <a:off x="10068393" y="2610786"/>
            <a:ext cx="1686393" cy="31729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941ED1E-6DCE-E561-ED5E-A65F12F38C5F}"/>
              </a:ext>
            </a:extLst>
          </p:cNvPr>
          <p:cNvSpPr/>
          <p:nvPr/>
        </p:nvSpPr>
        <p:spPr>
          <a:xfrm>
            <a:off x="3741295" y="2610785"/>
            <a:ext cx="2342211" cy="31729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9208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873C9-B95B-F424-9155-629065E95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715A5-D0A9-6690-3958-31A60F58A120}"/>
              </a:ext>
            </a:extLst>
          </p:cNvPr>
          <p:cNvSpPr>
            <a:spLocks noGrp="1"/>
          </p:cNvSpPr>
          <p:nvPr>
            <p:ph type="title"/>
          </p:nvPr>
        </p:nvSpPr>
        <p:spPr/>
        <p:txBody>
          <a:bodyPr>
            <a:normAutofit fontScale="90000"/>
          </a:bodyPr>
          <a:lstStyle/>
          <a:p>
            <a:r>
              <a:rPr lang="en-US" sz="5400">
                <a:solidFill>
                  <a:srgbClr val="27302B"/>
                </a:solidFill>
                <a:ea typeface="+mj-lt"/>
                <a:cs typeface="+mj-lt"/>
              </a:rPr>
              <a:t>Experimental Results </a:t>
            </a:r>
            <a:br>
              <a:rPr lang="en-US" sz="5400">
                <a:ea typeface="+mj-lt"/>
                <a:cs typeface="+mj-lt"/>
              </a:rPr>
            </a:br>
            <a:endParaRPr lang="en-US" sz="5400">
              <a:solidFill>
                <a:srgbClr val="27302B"/>
              </a:solidFill>
            </a:endParaRPr>
          </a:p>
        </p:txBody>
      </p:sp>
      <p:pic>
        <p:nvPicPr>
          <p:cNvPr id="6" name="Picture 5">
            <a:extLst>
              <a:ext uri="{FF2B5EF4-FFF2-40B4-BE49-F238E27FC236}">
                <a16:creationId xmlns:a16="http://schemas.microsoft.com/office/drawing/2014/main" id="{FF67AAEF-B77F-D933-F5D7-7D43E5C562B8}"/>
              </a:ext>
            </a:extLst>
          </p:cNvPr>
          <p:cNvPicPr>
            <a:picLocks noChangeAspect="1"/>
          </p:cNvPicPr>
          <p:nvPr/>
        </p:nvPicPr>
        <p:blipFill>
          <a:blip r:embed="rId3"/>
          <a:stretch>
            <a:fillRect/>
          </a:stretch>
        </p:blipFill>
        <p:spPr>
          <a:xfrm>
            <a:off x="963810" y="2064044"/>
            <a:ext cx="10301857" cy="2982776"/>
          </a:xfrm>
          <a:prstGeom prst="rect">
            <a:avLst/>
          </a:prstGeom>
        </p:spPr>
      </p:pic>
      <p:sp>
        <p:nvSpPr>
          <p:cNvPr id="9" name="TextBox 8">
            <a:extLst>
              <a:ext uri="{FF2B5EF4-FFF2-40B4-BE49-F238E27FC236}">
                <a16:creationId xmlns:a16="http://schemas.microsoft.com/office/drawing/2014/main" id="{7A4454A2-E85B-0A25-D3B9-F9CD759CC45C}"/>
              </a:ext>
            </a:extLst>
          </p:cNvPr>
          <p:cNvSpPr txBox="1"/>
          <p:nvPr/>
        </p:nvSpPr>
        <p:spPr>
          <a:xfrm>
            <a:off x="642049" y="1404481"/>
            <a:ext cx="1009220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a:t>Group by ticker and date</a:t>
            </a:r>
          </a:p>
        </p:txBody>
      </p:sp>
      <p:sp>
        <p:nvSpPr>
          <p:cNvPr id="7" name="Oval 6">
            <a:extLst>
              <a:ext uri="{FF2B5EF4-FFF2-40B4-BE49-F238E27FC236}">
                <a16:creationId xmlns:a16="http://schemas.microsoft.com/office/drawing/2014/main" id="{9EFEE514-5457-2254-0E16-6DFC8CDFD69A}"/>
              </a:ext>
            </a:extLst>
          </p:cNvPr>
          <p:cNvSpPr/>
          <p:nvPr/>
        </p:nvSpPr>
        <p:spPr>
          <a:xfrm>
            <a:off x="4000375" y="1764965"/>
            <a:ext cx="2845131" cy="349295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8260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FBE26-60A7-DA05-D795-738DC7C27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F464F-5832-AEED-BED4-AEDA9EF3F894}"/>
              </a:ext>
            </a:extLst>
          </p:cNvPr>
          <p:cNvSpPr>
            <a:spLocks noGrp="1"/>
          </p:cNvSpPr>
          <p:nvPr>
            <p:ph type="title"/>
          </p:nvPr>
        </p:nvSpPr>
        <p:spPr/>
        <p:txBody>
          <a:bodyPr>
            <a:normAutofit fontScale="90000"/>
          </a:bodyPr>
          <a:lstStyle/>
          <a:p>
            <a:r>
              <a:rPr lang="en-US" sz="5400">
                <a:solidFill>
                  <a:srgbClr val="27302B"/>
                </a:solidFill>
                <a:ea typeface="+mj-lt"/>
                <a:cs typeface="+mj-lt"/>
              </a:rPr>
              <a:t>Experimental Results </a:t>
            </a:r>
            <a:br>
              <a:rPr lang="en-US" sz="5400">
                <a:ea typeface="+mj-lt"/>
                <a:cs typeface="+mj-lt"/>
              </a:rPr>
            </a:br>
            <a:endParaRPr lang="en-US" sz="5400">
              <a:solidFill>
                <a:srgbClr val="27302B"/>
              </a:solidFill>
            </a:endParaRPr>
          </a:p>
        </p:txBody>
      </p:sp>
      <p:pic>
        <p:nvPicPr>
          <p:cNvPr id="4" name="Picture 3">
            <a:extLst>
              <a:ext uri="{FF2B5EF4-FFF2-40B4-BE49-F238E27FC236}">
                <a16:creationId xmlns:a16="http://schemas.microsoft.com/office/drawing/2014/main" id="{D1AC74F0-5BAE-49CE-EB22-6845C54BAEC3}"/>
              </a:ext>
            </a:extLst>
          </p:cNvPr>
          <p:cNvPicPr>
            <a:picLocks noChangeAspect="1"/>
          </p:cNvPicPr>
          <p:nvPr/>
        </p:nvPicPr>
        <p:blipFill>
          <a:blip r:embed="rId3"/>
          <a:srcRect l="115" t="65135" r="40830" b="-1622"/>
          <a:stretch>
            <a:fillRect/>
          </a:stretch>
        </p:blipFill>
        <p:spPr>
          <a:xfrm>
            <a:off x="1026409" y="5804146"/>
            <a:ext cx="4525550" cy="497888"/>
          </a:xfrm>
          <a:prstGeom prst="rect">
            <a:avLst/>
          </a:prstGeom>
        </p:spPr>
      </p:pic>
      <p:pic>
        <p:nvPicPr>
          <p:cNvPr id="5" name="Picture 4">
            <a:extLst>
              <a:ext uri="{FF2B5EF4-FFF2-40B4-BE49-F238E27FC236}">
                <a16:creationId xmlns:a16="http://schemas.microsoft.com/office/drawing/2014/main" id="{27434D8E-26DB-336A-967F-A5AD00BFAC5A}"/>
              </a:ext>
            </a:extLst>
          </p:cNvPr>
          <p:cNvPicPr>
            <a:picLocks noChangeAspect="1"/>
          </p:cNvPicPr>
          <p:nvPr/>
        </p:nvPicPr>
        <p:blipFill>
          <a:blip r:embed="rId4"/>
          <a:stretch>
            <a:fillRect/>
          </a:stretch>
        </p:blipFill>
        <p:spPr>
          <a:xfrm>
            <a:off x="285132" y="1443038"/>
            <a:ext cx="5522373" cy="4131723"/>
          </a:xfrm>
          <a:prstGeom prst="rect">
            <a:avLst/>
          </a:prstGeom>
        </p:spPr>
      </p:pic>
      <p:pic>
        <p:nvPicPr>
          <p:cNvPr id="7" name="Picture 6">
            <a:extLst>
              <a:ext uri="{FF2B5EF4-FFF2-40B4-BE49-F238E27FC236}">
                <a16:creationId xmlns:a16="http://schemas.microsoft.com/office/drawing/2014/main" id="{9BAE4DDF-8444-5624-A1A0-94D17950C2B5}"/>
              </a:ext>
            </a:extLst>
          </p:cNvPr>
          <p:cNvPicPr>
            <a:picLocks noChangeAspect="1"/>
          </p:cNvPicPr>
          <p:nvPr/>
        </p:nvPicPr>
        <p:blipFill>
          <a:blip r:embed="rId5"/>
          <a:srcRect r="24270" b="1042"/>
          <a:stretch>
            <a:fillRect/>
          </a:stretch>
        </p:blipFill>
        <p:spPr>
          <a:xfrm>
            <a:off x="6937412" y="5801414"/>
            <a:ext cx="4518141" cy="468169"/>
          </a:xfrm>
          <a:prstGeom prst="rect">
            <a:avLst/>
          </a:prstGeom>
        </p:spPr>
      </p:pic>
      <p:pic>
        <p:nvPicPr>
          <p:cNvPr id="8" name="Picture 7">
            <a:extLst>
              <a:ext uri="{FF2B5EF4-FFF2-40B4-BE49-F238E27FC236}">
                <a16:creationId xmlns:a16="http://schemas.microsoft.com/office/drawing/2014/main" id="{5792E1D5-1FBA-98E8-05CF-D0A3B1FBA84D}"/>
              </a:ext>
            </a:extLst>
          </p:cNvPr>
          <p:cNvPicPr>
            <a:picLocks noChangeAspect="1"/>
          </p:cNvPicPr>
          <p:nvPr/>
        </p:nvPicPr>
        <p:blipFill>
          <a:blip r:embed="rId6"/>
          <a:stretch>
            <a:fillRect/>
          </a:stretch>
        </p:blipFill>
        <p:spPr>
          <a:xfrm>
            <a:off x="6248030" y="1367253"/>
            <a:ext cx="5562600" cy="4286250"/>
          </a:xfrm>
          <a:prstGeom prst="rect">
            <a:avLst/>
          </a:prstGeom>
        </p:spPr>
      </p:pic>
    </p:spTree>
    <p:extLst>
      <p:ext uri="{BB962C8B-B14F-4D97-AF65-F5344CB8AC3E}">
        <p14:creationId xmlns:p14="http://schemas.microsoft.com/office/powerpoint/2010/main" val="2663969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3EA15-09BA-D815-5398-3A601AC9B7F5}"/>
            </a:ext>
          </a:extLst>
        </p:cNvPr>
        <p:cNvGrpSpPr/>
        <p:nvPr/>
      </p:nvGrpSpPr>
      <p:grpSpPr>
        <a:xfrm>
          <a:off x="0" y="0"/>
          <a:ext cx="0" cy="0"/>
          <a:chOff x="0" y="0"/>
          <a:chExt cx="0" cy="0"/>
        </a:xfrm>
      </p:grpSpPr>
      <p:sp>
        <p:nvSpPr>
          <p:cNvPr id="6" name="Isosceles Triangle 5">
            <a:extLst>
              <a:ext uri="{FF2B5EF4-FFF2-40B4-BE49-F238E27FC236}">
                <a16:creationId xmlns:a16="http://schemas.microsoft.com/office/drawing/2014/main" id="{02BDC8F4-35AD-AD71-007F-C04DAFBD4AE8}"/>
              </a:ext>
            </a:extLst>
          </p:cNvPr>
          <p:cNvSpPr/>
          <p:nvPr/>
        </p:nvSpPr>
        <p:spPr>
          <a:xfrm>
            <a:off x="0" y="4318"/>
            <a:ext cx="24296775" cy="6849637"/>
          </a:xfrm>
          <a:prstGeom prst="triangle">
            <a:avLst/>
          </a:prstGeom>
          <a:solidFill>
            <a:srgbClr val="FC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6C73F6-C4D7-6484-AC3E-FBF2B27D0BE5}"/>
              </a:ext>
            </a:extLst>
          </p:cNvPr>
          <p:cNvSpPr>
            <a:spLocks noGrp="1"/>
          </p:cNvSpPr>
          <p:nvPr>
            <p:ph type="title"/>
          </p:nvPr>
        </p:nvSpPr>
        <p:spPr/>
        <p:txBody>
          <a:bodyPr>
            <a:normAutofit/>
          </a:bodyPr>
          <a:lstStyle/>
          <a:p>
            <a:r>
              <a:rPr lang="en-US" sz="4900">
                <a:solidFill>
                  <a:srgbClr val="27302B"/>
                </a:solidFill>
              </a:rPr>
              <a:t>Experimented Results</a:t>
            </a:r>
          </a:p>
        </p:txBody>
      </p:sp>
      <p:sp>
        <p:nvSpPr>
          <p:cNvPr id="4" name="Date Placeholder 3">
            <a:extLst>
              <a:ext uri="{FF2B5EF4-FFF2-40B4-BE49-F238E27FC236}">
                <a16:creationId xmlns:a16="http://schemas.microsoft.com/office/drawing/2014/main" id="{3A8FA225-8B50-962C-43D3-41A17FBB5562}"/>
              </a:ext>
            </a:extLst>
          </p:cNvPr>
          <p:cNvSpPr>
            <a:spLocks noGrp="1"/>
          </p:cNvSpPr>
          <p:nvPr>
            <p:ph type="dt" sz="half" idx="10"/>
          </p:nvPr>
        </p:nvSpPr>
        <p:spPr/>
        <p:txBody>
          <a:bodyPr/>
          <a:lstStyle/>
          <a:p>
            <a:fld id="{4084AFD9-F4EF-451B-B80E-7F3D8ACCF515}" type="datetime1">
              <a:rPr lang="en-US"/>
              <a:t>11/16/2025</a:t>
            </a:fld>
            <a:endParaRPr lang="en-US"/>
          </a:p>
        </p:txBody>
      </p:sp>
      <p:sp>
        <p:nvSpPr>
          <p:cNvPr id="7" name="TextBox 4">
            <a:extLst>
              <a:ext uri="{FF2B5EF4-FFF2-40B4-BE49-F238E27FC236}">
                <a16:creationId xmlns:a16="http://schemas.microsoft.com/office/drawing/2014/main" id="{08B7C53A-8023-563F-8DA0-725FF586CD12}"/>
              </a:ext>
            </a:extLst>
          </p:cNvPr>
          <p:cNvSpPr txBox="1"/>
          <p:nvPr/>
        </p:nvSpPr>
        <p:spPr>
          <a:xfrm>
            <a:off x="615811" y="1682750"/>
            <a:ext cx="10969045" cy="193899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27302B"/>
                </a:solidFill>
              </a:rPr>
              <a:t>Model 2:  ProsusAI/FinBERT: </a:t>
            </a:r>
          </a:p>
          <a:p>
            <a:pPr marL="285750" indent="-285750">
              <a:buFont typeface="Arial"/>
              <a:buChar char="•"/>
            </a:pPr>
            <a:r>
              <a:rPr lang="en-US" sz="2000">
                <a:solidFill>
                  <a:srgbClr val="27302B"/>
                </a:solidFill>
              </a:rPr>
              <a:t>Analyzed cleaned post text, generating sentiment probabilities </a:t>
            </a:r>
          </a:p>
          <a:p>
            <a:pPr marL="285750" indent="-285750">
              <a:buFont typeface="Arial"/>
              <a:buChar char="•"/>
            </a:pPr>
            <a:r>
              <a:rPr lang="en-US" sz="2000">
                <a:solidFill>
                  <a:srgbClr val="27302B"/>
                </a:solidFill>
              </a:rPr>
              <a:t>Calculated daily average "Signed Sentiment" score for each stock </a:t>
            </a:r>
          </a:p>
          <a:p>
            <a:pPr marL="285750" indent="-285750">
              <a:buFont typeface="Arial"/>
              <a:buChar char="•"/>
            </a:pPr>
            <a:r>
              <a:rPr lang="en-US" sz="2000">
                <a:solidFill>
                  <a:srgbClr val="27302B"/>
                </a:solidFill>
              </a:rPr>
              <a:t>Computed correlation between daily sentiment and the following day stock </a:t>
            </a:r>
          </a:p>
          <a:p>
            <a:pPr marL="285750" indent="-285750">
              <a:buFont typeface="Arial"/>
              <a:buChar char="•"/>
            </a:pPr>
            <a:r>
              <a:rPr lang="en-US" sz="2000">
                <a:solidFill>
                  <a:srgbClr val="27302B"/>
                </a:solidFill>
              </a:rPr>
              <a:t>Correlation: 0.0615 (Very weak positive linear relation) </a:t>
            </a:r>
          </a:p>
          <a:p>
            <a:pPr marL="285750" indent="-285750">
              <a:buFont typeface="Arial"/>
              <a:buChar char="•"/>
            </a:pPr>
            <a:endParaRPr lang="en-US" sz="2000">
              <a:solidFill>
                <a:srgbClr val="27302B"/>
              </a:solidFill>
            </a:endParaRPr>
          </a:p>
        </p:txBody>
      </p:sp>
      <p:pic>
        <p:nvPicPr>
          <p:cNvPr id="3" name="Picture 2" descr="A screenshot of a graph&#10;&#10;AI-generated content may be incorrect.">
            <a:extLst>
              <a:ext uri="{FF2B5EF4-FFF2-40B4-BE49-F238E27FC236}">
                <a16:creationId xmlns:a16="http://schemas.microsoft.com/office/drawing/2014/main" id="{19C791EF-D0CD-1349-BA94-8C4C25679714}"/>
              </a:ext>
            </a:extLst>
          </p:cNvPr>
          <p:cNvPicPr>
            <a:picLocks noChangeAspect="1"/>
          </p:cNvPicPr>
          <p:nvPr/>
        </p:nvPicPr>
        <p:blipFill>
          <a:blip r:embed="rId3"/>
          <a:stretch>
            <a:fillRect/>
          </a:stretch>
        </p:blipFill>
        <p:spPr>
          <a:xfrm>
            <a:off x="617682" y="3804104"/>
            <a:ext cx="11100955" cy="1464211"/>
          </a:xfrm>
          <a:prstGeom prst="rect">
            <a:avLst/>
          </a:prstGeom>
        </p:spPr>
      </p:pic>
      <p:sp>
        <p:nvSpPr>
          <p:cNvPr id="8" name="Oval 7">
            <a:extLst>
              <a:ext uri="{FF2B5EF4-FFF2-40B4-BE49-F238E27FC236}">
                <a16:creationId xmlns:a16="http://schemas.microsoft.com/office/drawing/2014/main" id="{4245DBE1-8A33-4B19-A3F4-605184D0DE13}"/>
              </a:ext>
            </a:extLst>
          </p:cNvPr>
          <p:cNvSpPr/>
          <p:nvPr/>
        </p:nvSpPr>
        <p:spPr>
          <a:xfrm>
            <a:off x="3047875" y="3426125"/>
            <a:ext cx="1961211" cy="24109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9918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Isosceles Triangle 8">
            <a:extLst>
              <a:ext uri="{FF2B5EF4-FFF2-40B4-BE49-F238E27FC236}">
                <a16:creationId xmlns:a16="http://schemas.microsoft.com/office/drawing/2014/main" id="{8A6AA81F-7267-C9BE-6341-D89C13C41B81}"/>
              </a:ext>
            </a:extLst>
          </p:cNvPr>
          <p:cNvSpPr/>
          <p:nvPr/>
        </p:nvSpPr>
        <p:spPr>
          <a:xfrm>
            <a:off x="-12108493" y="4318"/>
            <a:ext cx="24296775" cy="6849637"/>
          </a:xfrm>
          <a:prstGeom prst="triangle">
            <a:avLst/>
          </a:prstGeom>
          <a:solidFill>
            <a:srgbClr val="FC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2CD7B6-63BF-5CFB-4FEC-78F6455A0022}"/>
              </a:ext>
            </a:extLst>
          </p:cNvPr>
          <p:cNvSpPr>
            <a:spLocks noGrp="1"/>
          </p:cNvSpPr>
          <p:nvPr>
            <p:ph type="title"/>
          </p:nvPr>
        </p:nvSpPr>
        <p:spPr/>
        <p:txBody>
          <a:bodyPr>
            <a:normAutofit/>
          </a:bodyPr>
          <a:lstStyle/>
          <a:p>
            <a:r>
              <a:rPr lang="en-US" sz="4900">
                <a:solidFill>
                  <a:srgbClr val="27302B"/>
                </a:solidFill>
              </a:rPr>
              <a:t>Experimented Results</a:t>
            </a:r>
          </a:p>
        </p:txBody>
      </p:sp>
      <p:sp>
        <p:nvSpPr>
          <p:cNvPr id="4" name="Date Placeholder 3">
            <a:extLst>
              <a:ext uri="{FF2B5EF4-FFF2-40B4-BE49-F238E27FC236}">
                <a16:creationId xmlns:a16="http://schemas.microsoft.com/office/drawing/2014/main" id="{D7A48E58-E92A-5FBF-1494-C1ABFC936012}"/>
              </a:ext>
            </a:extLst>
          </p:cNvPr>
          <p:cNvSpPr>
            <a:spLocks noGrp="1"/>
          </p:cNvSpPr>
          <p:nvPr>
            <p:ph type="dt" sz="half" idx="10"/>
          </p:nvPr>
        </p:nvSpPr>
        <p:spPr/>
        <p:txBody>
          <a:bodyPr/>
          <a:lstStyle/>
          <a:p>
            <a:fld id="{4084AFD9-F4EF-451B-B80E-7F3D8ACCF515}" type="datetime1">
              <a:rPr lang="en-US"/>
              <a:t>11/16/2025</a:t>
            </a:fld>
            <a:endParaRPr lang="en-US"/>
          </a:p>
        </p:txBody>
      </p:sp>
      <p:sp>
        <p:nvSpPr>
          <p:cNvPr id="8" name="TextBox 6">
            <a:extLst>
              <a:ext uri="{FF2B5EF4-FFF2-40B4-BE49-F238E27FC236}">
                <a16:creationId xmlns:a16="http://schemas.microsoft.com/office/drawing/2014/main" id="{A5494198-9C4C-FEC8-415E-029E6F9A65EB}"/>
              </a:ext>
            </a:extLst>
          </p:cNvPr>
          <p:cNvSpPr txBox="1"/>
          <p:nvPr/>
        </p:nvSpPr>
        <p:spPr>
          <a:xfrm>
            <a:off x="611613" y="1699436"/>
            <a:ext cx="11101557" cy="163121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27302B"/>
                </a:solidFill>
              </a:rPr>
              <a:t>Model 3: </a:t>
            </a:r>
            <a:r>
              <a:rPr lang="en-US" sz="2000" b="1" err="1">
                <a:solidFill>
                  <a:srgbClr val="27302B"/>
                </a:solidFill>
              </a:rPr>
              <a:t>FinBERT</a:t>
            </a:r>
            <a:r>
              <a:rPr lang="en-US" sz="2000" b="1">
                <a:solidFill>
                  <a:srgbClr val="27302B"/>
                </a:solidFill>
              </a:rPr>
              <a:t>-tone with extreme sentiment only</a:t>
            </a:r>
          </a:p>
          <a:p>
            <a:pPr marL="285750" indent="-285750">
              <a:buFont typeface="Arial"/>
              <a:buChar char="•"/>
            </a:pPr>
            <a:r>
              <a:rPr lang="en-US" sz="2000">
                <a:solidFill>
                  <a:srgbClr val="27302B"/>
                </a:solidFill>
              </a:rPr>
              <a:t>Computed daily average sentiment for each stock </a:t>
            </a:r>
          </a:p>
          <a:p>
            <a:pPr marL="285750" indent="-285750">
              <a:buFont typeface="Arial"/>
              <a:buChar char="•"/>
            </a:pPr>
            <a:r>
              <a:rPr lang="en-US" sz="2000">
                <a:solidFill>
                  <a:srgbClr val="27302B"/>
                </a:solidFill>
              </a:rPr>
              <a:t>Calculated correlation between this extreme sentiment and the next day's stock return</a:t>
            </a:r>
          </a:p>
          <a:p>
            <a:pPr marL="285750" indent="-285750">
              <a:buFont typeface="Arial"/>
              <a:buChar char="•"/>
            </a:pPr>
            <a:r>
              <a:rPr lang="en-US" sz="2000">
                <a:solidFill>
                  <a:srgbClr val="27302B"/>
                </a:solidFill>
              </a:rPr>
              <a:t>Correlation: 0.0714</a:t>
            </a:r>
          </a:p>
          <a:p>
            <a:endParaRPr lang="en-US" sz="2000">
              <a:solidFill>
                <a:srgbClr val="27302B"/>
              </a:solidFill>
            </a:endParaRPr>
          </a:p>
        </p:txBody>
      </p:sp>
      <p:pic>
        <p:nvPicPr>
          <p:cNvPr id="3" name="Picture 2" descr="A screenshot of a computer&#10;&#10;AI-generated content may be incorrect.">
            <a:extLst>
              <a:ext uri="{FF2B5EF4-FFF2-40B4-BE49-F238E27FC236}">
                <a16:creationId xmlns:a16="http://schemas.microsoft.com/office/drawing/2014/main" id="{C52540D4-511B-8D80-61BD-11506B36B6A6}"/>
              </a:ext>
            </a:extLst>
          </p:cNvPr>
          <p:cNvPicPr>
            <a:picLocks noChangeAspect="1"/>
          </p:cNvPicPr>
          <p:nvPr/>
        </p:nvPicPr>
        <p:blipFill>
          <a:blip r:embed="rId3"/>
          <a:stretch>
            <a:fillRect/>
          </a:stretch>
        </p:blipFill>
        <p:spPr>
          <a:xfrm>
            <a:off x="3810000" y="2900923"/>
            <a:ext cx="7819869" cy="3392120"/>
          </a:xfrm>
          <a:prstGeom prst="rect">
            <a:avLst/>
          </a:prstGeom>
        </p:spPr>
      </p:pic>
    </p:spTree>
    <p:extLst>
      <p:ext uri="{BB962C8B-B14F-4D97-AF65-F5344CB8AC3E}">
        <p14:creationId xmlns:p14="http://schemas.microsoft.com/office/powerpoint/2010/main" val="1999187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55447-D7EE-0630-787D-F9CB0F66448B}"/>
            </a:ext>
          </a:extLst>
        </p:cNvPr>
        <p:cNvGrpSpPr/>
        <p:nvPr/>
      </p:nvGrpSpPr>
      <p:grpSpPr>
        <a:xfrm>
          <a:off x="0" y="0"/>
          <a:ext cx="0" cy="0"/>
          <a:chOff x="0" y="0"/>
          <a:chExt cx="0" cy="0"/>
        </a:xfrm>
      </p:grpSpPr>
      <p:sp>
        <p:nvSpPr>
          <p:cNvPr id="3" name="Isosceles Triangle 2">
            <a:extLst>
              <a:ext uri="{FF2B5EF4-FFF2-40B4-BE49-F238E27FC236}">
                <a16:creationId xmlns:a16="http://schemas.microsoft.com/office/drawing/2014/main" id="{B9C9172F-EBF4-96F3-26F1-5F73809502E3}"/>
              </a:ext>
            </a:extLst>
          </p:cNvPr>
          <p:cNvSpPr/>
          <p:nvPr/>
        </p:nvSpPr>
        <p:spPr>
          <a:xfrm>
            <a:off x="0" y="4318"/>
            <a:ext cx="24296775" cy="6849637"/>
          </a:xfrm>
          <a:prstGeom prst="triangle">
            <a:avLst/>
          </a:prstGeom>
          <a:solidFill>
            <a:srgbClr val="FC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6AD26B-5B3D-34D3-0E1D-03334A9CA653}"/>
              </a:ext>
            </a:extLst>
          </p:cNvPr>
          <p:cNvSpPr>
            <a:spLocks noGrp="1"/>
          </p:cNvSpPr>
          <p:nvPr>
            <p:ph type="title"/>
          </p:nvPr>
        </p:nvSpPr>
        <p:spPr/>
        <p:txBody>
          <a:bodyPr>
            <a:normAutofit/>
          </a:bodyPr>
          <a:lstStyle/>
          <a:p>
            <a:r>
              <a:rPr lang="en-US" sz="5400">
                <a:solidFill>
                  <a:srgbClr val="27302B"/>
                </a:solidFill>
                <a:ea typeface="+mj-lt"/>
                <a:cs typeface="+mj-lt"/>
              </a:rPr>
              <a:t>Methodology (Cont.)</a:t>
            </a:r>
            <a:endParaRPr lang="en-US" sz="5400">
              <a:solidFill>
                <a:srgbClr val="27302B"/>
              </a:solidFill>
            </a:endParaRPr>
          </a:p>
        </p:txBody>
      </p:sp>
      <p:sp>
        <p:nvSpPr>
          <p:cNvPr id="7" name="TextBox 6">
            <a:extLst>
              <a:ext uri="{FF2B5EF4-FFF2-40B4-BE49-F238E27FC236}">
                <a16:creationId xmlns:a16="http://schemas.microsoft.com/office/drawing/2014/main" id="{1C1A733C-77C8-F9A6-674B-31EF239E78EC}"/>
              </a:ext>
            </a:extLst>
          </p:cNvPr>
          <p:cNvSpPr txBox="1"/>
          <p:nvPr/>
        </p:nvSpPr>
        <p:spPr>
          <a:xfrm>
            <a:off x="708110" y="1551349"/>
            <a:ext cx="10948167"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500"/>
              </a:spcBef>
              <a:spcAft>
                <a:spcPts val="300"/>
              </a:spcAft>
            </a:pPr>
            <a:r>
              <a:rPr lang="en-US" sz="2000" b="1">
                <a:solidFill>
                  <a:srgbClr val="27302B"/>
                </a:solidFill>
              </a:rPr>
              <a:t>Test 1: Logistic Regression (Next-Day Prediction)</a:t>
            </a:r>
            <a:endParaRPr lang="en-US" sz="2000">
              <a:solidFill>
                <a:srgbClr val="27302B"/>
              </a:solidFill>
            </a:endParaRPr>
          </a:p>
          <a:p>
            <a:pPr marL="285750">
              <a:spcBef>
                <a:spcPts val="500"/>
              </a:spcBef>
              <a:spcAft>
                <a:spcPts val="300"/>
              </a:spcAft>
              <a:buFont typeface="Arial"/>
              <a:buChar char="•"/>
            </a:pPr>
            <a:r>
              <a:rPr lang="en-US" sz="2000" b="1">
                <a:solidFill>
                  <a:srgbClr val="27302B"/>
                </a:solidFill>
                <a:ea typeface="+mn-lt"/>
                <a:cs typeface="+mn-lt"/>
              </a:rPr>
              <a:t>Goal</a:t>
            </a:r>
            <a:r>
              <a:rPr lang="en-US" sz="2000">
                <a:solidFill>
                  <a:srgbClr val="27302B"/>
                </a:solidFill>
                <a:ea typeface="+mn-lt"/>
                <a:cs typeface="+mn-lt"/>
              </a:rPr>
              <a:t>: Baseline test - can sentiment alone predict if stock goes up/down tomorrow?</a:t>
            </a:r>
            <a:endParaRPr lang="en-US" sz="2000">
              <a:solidFill>
                <a:srgbClr val="27302B"/>
              </a:solidFill>
            </a:endParaRPr>
          </a:p>
          <a:p>
            <a:pPr marL="285750">
              <a:spcBef>
                <a:spcPts val="500"/>
              </a:spcBef>
              <a:spcAft>
                <a:spcPts val="300"/>
              </a:spcAft>
              <a:buFont typeface="Arial"/>
              <a:buChar char="•"/>
            </a:pPr>
            <a:r>
              <a:rPr lang="en-US" sz="2000" b="1">
                <a:solidFill>
                  <a:srgbClr val="27302B"/>
                </a:solidFill>
                <a:ea typeface="+mn-lt"/>
                <a:cs typeface="+mn-lt"/>
              </a:rPr>
              <a:t>Features</a:t>
            </a:r>
            <a:r>
              <a:rPr lang="en-US" sz="2000">
                <a:solidFill>
                  <a:srgbClr val="27302B"/>
                </a:solidFill>
                <a:ea typeface="+mn-lt"/>
                <a:cs typeface="+mn-lt"/>
              </a:rPr>
              <a:t>: Sentiment score + sentiment quintiles</a:t>
            </a:r>
            <a:endParaRPr lang="en-US" sz="2000">
              <a:solidFill>
                <a:srgbClr val="27302B"/>
              </a:solidFill>
            </a:endParaRPr>
          </a:p>
          <a:p>
            <a:pPr marL="285750">
              <a:spcBef>
                <a:spcPts val="500"/>
              </a:spcBef>
              <a:spcAft>
                <a:spcPts val="300"/>
              </a:spcAft>
              <a:buFont typeface="Arial"/>
              <a:buChar char="•"/>
            </a:pPr>
            <a:r>
              <a:rPr lang="en-US" sz="2000" b="1">
                <a:solidFill>
                  <a:srgbClr val="27302B"/>
                </a:solidFill>
                <a:ea typeface="+mn-lt"/>
                <a:cs typeface="+mn-lt"/>
              </a:rPr>
              <a:t>Why</a:t>
            </a:r>
            <a:r>
              <a:rPr lang="en-US" sz="2000">
                <a:solidFill>
                  <a:srgbClr val="27302B"/>
                </a:solidFill>
                <a:ea typeface="+mn-lt"/>
                <a:cs typeface="+mn-lt"/>
              </a:rPr>
              <a:t>: Simple, interpretable starting point</a:t>
            </a:r>
            <a:endParaRPr lang="en-US" sz="2000">
              <a:solidFill>
                <a:srgbClr val="27302B"/>
              </a:solidFill>
            </a:endParaRPr>
          </a:p>
          <a:p>
            <a:pPr>
              <a:spcBef>
                <a:spcPts val="500"/>
              </a:spcBef>
              <a:spcAft>
                <a:spcPts val="300"/>
              </a:spcAft>
            </a:pPr>
            <a:r>
              <a:rPr lang="en-US" sz="2000" b="1">
                <a:solidFill>
                  <a:srgbClr val="27302B"/>
                </a:solidFill>
              </a:rPr>
              <a:t>Test 2: Random Forest (3-Day Smoothed Returns)</a:t>
            </a:r>
            <a:endParaRPr lang="en-US" sz="2000">
              <a:solidFill>
                <a:srgbClr val="27302B"/>
              </a:solidFill>
            </a:endParaRPr>
          </a:p>
          <a:p>
            <a:pPr marL="285750">
              <a:spcBef>
                <a:spcPts val="500"/>
              </a:spcBef>
              <a:spcAft>
                <a:spcPts val="300"/>
              </a:spcAft>
              <a:buFont typeface="Arial"/>
              <a:buChar char="•"/>
            </a:pPr>
            <a:r>
              <a:rPr lang="en-US" sz="2000" b="1">
                <a:solidFill>
                  <a:srgbClr val="27302B"/>
                </a:solidFill>
                <a:ea typeface="+mn-lt"/>
                <a:cs typeface="+mn-lt"/>
              </a:rPr>
              <a:t>Goal</a:t>
            </a:r>
            <a:r>
              <a:rPr lang="en-US" sz="2000">
                <a:solidFill>
                  <a:srgbClr val="27302B"/>
                </a:solidFill>
                <a:ea typeface="+mn-lt"/>
                <a:cs typeface="+mn-lt"/>
              </a:rPr>
              <a:t>: Reduce daily noise by predicting smoothed 3-day forward returns</a:t>
            </a:r>
            <a:endParaRPr lang="en-US" sz="2000">
              <a:solidFill>
                <a:srgbClr val="27302B"/>
              </a:solidFill>
            </a:endParaRPr>
          </a:p>
          <a:p>
            <a:pPr marL="285750">
              <a:spcBef>
                <a:spcPts val="500"/>
              </a:spcBef>
              <a:spcAft>
                <a:spcPts val="300"/>
              </a:spcAft>
              <a:buFont typeface="Arial"/>
              <a:buChar char="•"/>
            </a:pPr>
            <a:r>
              <a:rPr lang="en-US" sz="2000" b="1">
                <a:solidFill>
                  <a:srgbClr val="27302B"/>
                </a:solidFill>
                <a:ea typeface="+mn-lt"/>
                <a:cs typeface="+mn-lt"/>
              </a:rPr>
              <a:t>Features</a:t>
            </a:r>
            <a:r>
              <a:rPr lang="en-US" sz="2000">
                <a:solidFill>
                  <a:srgbClr val="27302B"/>
                </a:solidFill>
                <a:ea typeface="+mn-lt"/>
                <a:cs typeface="+mn-lt"/>
              </a:rPr>
              <a:t>: Added market data (current return, excess return, engagement metrics)</a:t>
            </a:r>
            <a:endParaRPr lang="en-US" sz="2000">
              <a:solidFill>
                <a:srgbClr val="27302B"/>
              </a:solidFill>
            </a:endParaRPr>
          </a:p>
          <a:p>
            <a:pPr marL="285750">
              <a:spcBef>
                <a:spcPts val="500"/>
              </a:spcBef>
              <a:spcAft>
                <a:spcPts val="300"/>
              </a:spcAft>
              <a:buFont typeface="Arial"/>
              <a:buChar char="•"/>
            </a:pPr>
            <a:r>
              <a:rPr lang="en-US" sz="2000" b="1">
                <a:solidFill>
                  <a:srgbClr val="27302B"/>
                </a:solidFill>
                <a:ea typeface="+mn-lt"/>
                <a:cs typeface="+mn-lt"/>
              </a:rPr>
              <a:t>Why</a:t>
            </a:r>
            <a:r>
              <a:rPr lang="en-US" sz="2000">
                <a:solidFill>
                  <a:srgbClr val="27302B"/>
                </a:solidFill>
                <a:ea typeface="+mn-lt"/>
                <a:cs typeface="+mn-lt"/>
              </a:rPr>
              <a:t>: Daily returns are noisy - maybe sentiment works over longer periods</a:t>
            </a:r>
            <a:endParaRPr lang="en-US" sz="2000">
              <a:solidFill>
                <a:srgbClr val="27302B"/>
              </a:solidFill>
            </a:endParaRPr>
          </a:p>
          <a:p>
            <a:pPr>
              <a:spcBef>
                <a:spcPts val="500"/>
              </a:spcBef>
              <a:spcAft>
                <a:spcPts val="300"/>
              </a:spcAft>
            </a:pPr>
            <a:r>
              <a:rPr lang="en-US" sz="2000" b="1">
                <a:solidFill>
                  <a:srgbClr val="27302B"/>
                </a:solidFill>
              </a:rPr>
              <a:t>Test 3: </a:t>
            </a:r>
            <a:r>
              <a:rPr lang="en-US" sz="2000" b="1" err="1">
                <a:solidFill>
                  <a:srgbClr val="27302B"/>
                </a:solidFill>
              </a:rPr>
              <a:t>XGBoost</a:t>
            </a:r>
            <a:r>
              <a:rPr lang="en-US" sz="2000" b="1">
                <a:solidFill>
                  <a:srgbClr val="27302B"/>
                </a:solidFill>
              </a:rPr>
              <a:t> (5-Day Cumulative Returns)</a:t>
            </a:r>
          </a:p>
          <a:p>
            <a:pPr marL="285750">
              <a:spcBef>
                <a:spcPts val="500"/>
              </a:spcBef>
              <a:spcAft>
                <a:spcPts val="300"/>
              </a:spcAft>
              <a:buFont typeface="Arial"/>
              <a:buChar char="•"/>
            </a:pPr>
            <a:r>
              <a:rPr lang="en-US" sz="2000" b="1">
                <a:solidFill>
                  <a:srgbClr val="27302B"/>
                </a:solidFill>
                <a:ea typeface="+mn-lt"/>
                <a:cs typeface="+mn-lt"/>
              </a:rPr>
              <a:t>Goal</a:t>
            </a:r>
            <a:r>
              <a:rPr lang="en-US" sz="2000">
                <a:solidFill>
                  <a:srgbClr val="27302B"/>
                </a:solidFill>
                <a:ea typeface="+mn-lt"/>
                <a:cs typeface="+mn-lt"/>
              </a:rPr>
              <a:t>: Full feature engineering + hyperparameter optimization</a:t>
            </a:r>
            <a:endParaRPr lang="en-US" sz="2000">
              <a:solidFill>
                <a:srgbClr val="27302B"/>
              </a:solidFill>
            </a:endParaRPr>
          </a:p>
          <a:p>
            <a:pPr marL="285750">
              <a:spcBef>
                <a:spcPts val="500"/>
              </a:spcBef>
              <a:spcAft>
                <a:spcPts val="300"/>
              </a:spcAft>
              <a:buFont typeface="Arial"/>
              <a:buChar char="•"/>
            </a:pPr>
            <a:r>
              <a:rPr lang="en-US" sz="2000" b="1">
                <a:solidFill>
                  <a:srgbClr val="27302B"/>
                </a:solidFill>
                <a:ea typeface="+mn-lt"/>
                <a:cs typeface="+mn-lt"/>
              </a:rPr>
              <a:t>Features</a:t>
            </a:r>
            <a:r>
              <a:rPr lang="en-US" sz="2000">
                <a:solidFill>
                  <a:srgbClr val="27302B"/>
                </a:solidFill>
                <a:ea typeface="+mn-lt"/>
                <a:cs typeface="+mn-lt"/>
              </a:rPr>
              <a:t>: Lagged returns, rolling averages, volatility measures + sentiment</a:t>
            </a:r>
            <a:endParaRPr lang="en-US" sz="2000">
              <a:solidFill>
                <a:srgbClr val="27302B"/>
              </a:solidFill>
            </a:endParaRPr>
          </a:p>
          <a:p>
            <a:pPr marL="285750">
              <a:spcBef>
                <a:spcPts val="500"/>
              </a:spcBef>
              <a:spcAft>
                <a:spcPts val="300"/>
              </a:spcAft>
              <a:buFont typeface="Arial"/>
              <a:buChar char="•"/>
            </a:pPr>
            <a:r>
              <a:rPr lang="en-US" sz="2000" b="1">
                <a:solidFill>
                  <a:srgbClr val="27302B"/>
                </a:solidFill>
                <a:ea typeface="+mn-lt"/>
                <a:cs typeface="+mn-lt"/>
              </a:rPr>
              <a:t>Why</a:t>
            </a:r>
            <a:r>
              <a:rPr lang="en-US" sz="2000">
                <a:solidFill>
                  <a:srgbClr val="27302B"/>
                </a:solidFill>
                <a:ea typeface="+mn-lt"/>
                <a:cs typeface="+mn-lt"/>
              </a:rPr>
              <a:t>: Test if sophisticated ML can extract predictive signal</a:t>
            </a:r>
            <a:endParaRPr lang="en-US" sz="2000">
              <a:solidFill>
                <a:srgbClr val="27302B"/>
              </a:solidFill>
            </a:endParaRPr>
          </a:p>
          <a:p>
            <a:pPr>
              <a:spcBef>
                <a:spcPts val="500"/>
              </a:spcBef>
              <a:spcAft>
                <a:spcPts val="300"/>
              </a:spcAft>
            </a:pPr>
            <a:endParaRPr lang="en-US" sz="2000" b="1">
              <a:solidFill>
                <a:srgbClr val="27302B"/>
              </a:solidFill>
            </a:endParaRPr>
          </a:p>
        </p:txBody>
      </p:sp>
    </p:spTree>
    <p:extLst>
      <p:ext uri="{BB962C8B-B14F-4D97-AF65-F5344CB8AC3E}">
        <p14:creationId xmlns:p14="http://schemas.microsoft.com/office/powerpoint/2010/main" val="807837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F305-AC35-26C7-5AF7-BDF4F8018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AD9F81-CB96-DA9E-E143-6B7DA88E52CD}"/>
              </a:ext>
            </a:extLst>
          </p:cNvPr>
          <p:cNvSpPr>
            <a:spLocks noGrp="1"/>
          </p:cNvSpPr>
          <p:nvPr>
            <p:ph type="title"/>
          </p:nvPr>
        </p:nvSpPr>
        <p:spPr/>
        <p:txBody>
          <a:bodyPr>
            <a:normAutofit/>
          </a:bodyPr>
          <a:lstStyle/>
          <a:p>
            <a:r>
              <a:rPr lang="en-US" sz="5400">
                <a:solidFill>
                  <a:srgbClr val="27302B"/>
                </a:solidFill>
                <a:ea typeface="+mj-lt"/>
                <a:cs typeface="+mj-lt"/>
              </a:rPr>
              <a:t>Experimental Results (Cont.)</a:t>
            </a:r>
            <a:endParaRPr lang="en-US" sz="5400">
              <a:solidFill>
                <a:srgbClr val="27302B"/>
              </a:solidFill>
            </a:endParaRPr>
          </a:p>
        </p:txBody>
      </p:sp>
      <p:graphicFrame>
        <p:nvGraphicFramePr>
          <p:cNvPr id="4" name="Table 3">
            <a:extLst>
              <a:ext uri="{FF2B5EF4-FFF2-40B4-BE49-F238E27FC236}">
                <a16:creationId xmlns:a16="http://schemas.microsoft.com/office/drawing/2014/main" id="{48F49F34-B2EE-B11F-C525-BE69269B5F7A}"/>
              </a:ext>
            </a:extLst>
          </p:cNvPr>
          <p:cNvGraphicFramePr>
            <a:graphicFrameLocks noGrp="1"/>
          </p:cNvGraphicFramePr>
          <p:nvPr>
            <p:extLst>
              <p:ext uri="{D42A27DB-BD31-4B8C-83A1-F6EECF244321}">
                <p14:modId xmlns:p14="http://schemas.microsoft.com/office/powerpoint/2010/main" val="4093029878"/>
              </p:ext>
            </p:extLst>
          </p:nvPr>
        </p:nvGraphicFramePr>
        <p:xfrm>
          <a:off x="1816274" y="3219398"/>
          <a:ext cx="8550501" cy="1463040"/>
        </p:xfrm>
        <a:graphic>
          <a:graphicData uri="http://schemas.openxmlformats.org/drawingml/2006/table">
            <a:tbl>
              <a:tblPr bandRow="1">
                <a:tableStyleId>{5C22544A-7EE6-4342-B048-85BDC9FD1C3A}</a:tableStyleId>
              </a:tblPr>
              <a:tblGrid>
                <a:gridCol w="2567608">
                  <a:extLst>
                    <a:ext uri="{9D8B030D-6E8A-4147-A177-3AD203B41FA5}">
                      <a16:colId xmlns:a16="http://schemas.microsoft.com/office/drawing/2014/main" val="3199901136"/>
                    </a:ext>
                  </a:extLst>
                </a:gridCol>
                <a:gridCol w="1707643">
                  <a:extLst>
                    <a:ext uri="{9D8B030D-6E8A-4147-A177-3AD203B41FA5}">
                      <a16:colId xmlns:a16="http://schemas.microsoft.com/office/drawing/2014/main" val="2266733982"/>
                    </a:ext>
                  </a:extLst>
                </a:gridCol>
                <a:gridCol w="2137625">
                  <a:extLst>
                    <a:ext uri="{9D8B030D-6E8A-4147-A177-3AD203B41FA5}">
                      <a16:colId xmlns:a16="http://schemas.microsoft.com/office/drawing/2014/main" val="2933695518"/>
                    </a:ext>
                  </a:extLst>
                </a:gridCol>
                <a:gridCol w="2137625">
                  <a:extLst>
                    <a:ext uri="{9D8B030D-6E8A-4147-A177-3AD203B41FA5}">
                      <a16:colId xmlns:a16="http://schemas.microsoft.com/office/drawing/2014/main" val="2737256924"/>
                    </a:ext>
                  </a:extLst>
                </a:gridCol>
              </a:tblGrid>
              <a:tr h="0">
                <a:tc>
                  <a:txBody>
                    <a:bodyPr/>
                    <a:lstStyle/>
                    <a:p>
                      <a:pPr>
                        <a:buNone/>
                      </a:pPr>
                      <a:r>
                        <a:rPr lang="en-US">
                          <a:solidFill>
                            <a:srgbClr val="27302B"/>
                          </a:solidFill>
                        </a:rPr>
                        <a:t>Model</a:t>
                      </a:r>
                    </a:p>
                  </a:txBody>
                  <a:tcPr anchor="ctr">
                    <a:lnL w="12700">
                      <a:solidFill>
                        <a:srgbClr val="27302B"/>
                      </a:solidFill>
                    </a:lnL>
                    <a:lnR w="12700">
                      <a:solidFill>
                        <a:srgbClr val="27302B"/>
                      </a:solidFill>
                    </a:lnR>
                    <a:lnT w="12700">
                      <a:solidFill>
                        <a:srgbClr val="27302B"/>
                      </a:solidFill>
                    </a:lnT>
                    <a:lnB w="12700">
                      <a:solidFill>
                        <a:srgbClr val="27302B"/>
                      </a:solidFill>
                    </a:lnB>
                    <a:solidFill>
                      <a:srgbClr val="FCF7EC"/>
                    </a:solidFill>
                  </a:tcPr>
                </a:tc>
                <a:tc>
                  <a:txBody>
                    <a:bodyPr/>
                    <a:lstStyle/>
                    <a:p>
                      <a:pPr>
                        <a:buNone/>
                      </a:pPr>
                      <a:r>
                        <a:rPr lang="en-US">
                          <a:solidFill>
                            <a:srgbClr val="27302B"/>
                          </a:solidFill>
                        </a:rPr>
                        <a:t>Accuracy</a:t>
                      </a:r>
                    </a:p>
                  </a:txBody>
                  <a:tcPr anchor="ctr">
                    <a:lnL w="12700">
                      <a:solidFill>
                        <a:srgbClr val="27302B"/>
                      </a:solidFill>
                    </a:lnL>
                    <a:lnR w="0">
                      <a:noFill/>
                    </a:lnR>
                    <a:lnT w="12700">
                      <a:solidFill>
                        <a:srgbClr val="27302B"/>
                      </a:solidFill>
                    </a:lnT>
                    <a:lnB w="12700">
                      <a:solidFill>
                        <a:srgbClr val="27302B"/>
                      </a:solidFill>
                    </a:lnB>
                    <a:solidFill>
                      <a:srgbClr val="FCF7EC"/>
                    </a:solidFill>
                  </a:tcPr>
                </a:tc>
                <a:tc>
                  <a:txBody>
                    <a:bodyPr/>
                    <a:lstStyle/>
                    <a:p>
                      <a:pPr>
                        <a:buNone/>
                      </a:pPr>
                      <a:r>
                        <a:rPr lang="en-US">
                          <a:solidFill>
                            <a:srgbClr val="27302B"/>
                          </a:solidFill>
                        </a:rPr>
                        <a:t>ROC-AUC</a:t>
                      </a:r>
                    </a:p>
                  </a:txBody>
                  <a:tcPr anchor="ctr">
                    <a:lnL w="0">
                      <a:noFill/>
                    </a:lnL>
                    <a:lnR w="0">
                      <a:noFill/>
                    </a:lnR>
                    <a:lnT w="12700">
                      <a:solidFill>
                        <a:srgbClr val="27302B"/>
                      </a:solidFill>
                    </a:lnT>
                    <a:lnB w="12700">
                      <a:solidFill>
                        <a:srgbClr val="27302B"/>
                      </a:solidFill>
                    </a:lnB>
                    <a:solidFill>
                      <a:srgbClr val="FCF7EC"/>
                    </a:solidFill>
                  </a:tcPr>
                </a:tc>
                <a:tc>
                  <a:txBody>
                    <a:bodyPr/>
                    <a:lstStyle/>
                    <a:p>
                      <a:pPr>
                        <a:buNone/>
                      </a:pPr>
                      <a:r>
                        <a:rPr lang="en-US">
                          <a:solidFill>
                            <a:srgbClr val="27302B"/>
                          </a:solidFill>
                        </a:rPr>
                        <a:t>Target</a:t>
                      </a:r>
                    </a:p>
                  </a:txBody>
                  <a:tcPr anchor="ctr">
                    <a:lnL w="0">
                      <a:noFill/>
                    </a:lnL>
                    <a:lnR w="12700">
                      <a:solidFill>
                        <a:srgbClr val="27302B"/>
                      </a:solidFill>
                    </a:lnR>
                    <a:lnT w="12700">
                      <a:solidFill>
                        <a:srgbClr val="27302B"/>
                      </a:solidFill>
                    </a:lnT>
                    <a:lnB w="12700" cap="flat" cmpd="sng" algn="ctr">
                      <a:solidFill>
                        <a:srgbClr val="27302B"/>
                      </a:solidFill>
                      <a:prstDash val="solid"/>
                      <a:round/>
                      <a:headEnd type="none" w="med" len="med"/>
                      <a:tailEnd type="none" w="med" len="med"/>
                    </a:lnB>
                    <a:solidFill>
                      <a:srgbClr val="FCF7EC"/>
                    </a:solidFill>
                  </a:tcPr>
                </a:tc>
                <a:extLst>
                  <a:ext uri="{0D108BD9-81ED-4DB2-BD59-A6C34878D82A}">
                    <a16:rowId xmlns:a16="http://schemas.microsoft.com/office/drawing/2014/main" val="3490711629"/>
                  </a:ext>
                </a:extLst>
              </a:tr>
              <a:tr h="0">
                <a:tc>
                  <a:txBody>
                    <a:bodyPr/>
                    <a:lstStyle/>
                    <a:p>
                      <a:pPr>
                        <a:buNone/>
                      </a:pPr>
                      <a:r>
                        <a:rPr lang="en-US">
                          <a:solidFill>
                            <a:srgbClr val="27302B"/>
                          </a:solidFill>
                        </a:rPr>
                        <a:t>Logistic Regression</a:t>
                      </a:r>
                    </a:p>
                  </a:txBody>
                  <a:tcPr anchor="ctr">
                    <a:lnL w="12700">
                      <a:solidFill>
                        <a:srgbClr val="27302B"/>
                      </a:solidFill>
                    </a:lnL>
                    <a:lnR w="12700">
                      <a:solidFill>
                        <a:srgbClr val="27302B"/>
                      </a:solidFill>
                    </a:lnR>
                    <a:lnT w="12700">
                      <a:solidFill>
                        <a:srgbClr val="27302B"/>
                      </a:solidFill>
                    </a:lnT>
                    <a:lnB w="0">
                      <a:noFill/>
                    </a:lnB>
                    <a:solidFill>
                      <a:srgbClr val="FCF7EC"/>
                    </a:solidFill>
                  </a:tcPr>
                </a:tc>
                <a:tc>
                  <a:txBody>
                    <a:bodyPr/>
                    <a:lstStyle/>
                    <a:p>
                      <a:pPr>
                        <a:buNone/>
                      </a:pPr>
                      <a:r>
                        <a:rPr lang="en-US">
                          <a:solidFill>
                            <a:srgbClr val="27302B"/>
                          </a:solidFill>
                        </a:rPr>
                        <a:t>~50%</a:t>
                      </a:r>
                    </a:p>
                  </a:txBody>
                  <a:tcPr anchor="ctr">
                    <a:lnL w="12700">
                      <a:solidFill>
                        <a:srgbClr val="27302B"/>
                      </a:solidFill>
                    </a:lnL>
                    <a:lnR w="0">
                      <a:noFill/>
                    </a:lnR>
                    <a:lnT w="12700">
                      <a:solidFill>
                        <a:srgbClr val="27302B"/>
                      </a:solidFill>
                    </a:lnT>
                    <a:lnB w="0">
                      <a:noFill/>
                    </a:lnB>
                    <a:solidFill>
                      <a:srgbClr val="FCF7EC"/>
                    </a:solidFill>
                  </a:tcPr>
                </a:tc>
                <a:tc>
                  <a:txBody>
                    <a:bodyPr/>
                    <a:lstStyle/>
                    <a:p>
                      <a:pPr>
                        <a:buNone/>
                      </a:pPr>
                      <a:r>
                        <a:rPr lang="en-US">
                          <a:solidFill>
                            <a:srgbClr val="27302B"/>
                          </a:solidFill>
                        </a:rPr>
                        <a:t>~0.52</a:t>
                      </a:r>
                    </a:p>
                  </a:txBody>
                  <a:tcPr anchor="ctr">
                    <a:lnL w="0">
                      <a:noFill/>
                    </a:lnL>
                    <a:lnR w="0">
                      <a:noFill/>
                    </a:lnR>
                    <a:lnT w="12700">
                      <a:solidFill>
                        <a:srgbClr val="27302B"/>
                      </a:solidFill>
                    </a:lnT>
                    <a:lnB w="0">
                      <a:noFill/>
                    </a:lnB>
                    <a:solidFill>
                      <a:srgbClr val="FCF7EC"/>
                    </a:solidFill>
                  </a:tcPr>
                </a:tc>
                <a:tc>
                  <a:txBody>
                    <a:bodyPr/>
                    <a:lstStyle/>
                    <a:p>
                      <a:pPr>
                        <a:buNone/>
                      </a:pPr>
                      <a:r>
                        <a:rPr lang="en-US">
                          <a:solidFill>
                            <a:srgbClr val="27302B"/>
                          </a:solidFill>
                        </a:rPr>
                        <a:t>Next-day</a:t>
                      </a:r>
                    </a:p>
                  </a:txBody>
                  <a:tcPr anchor="ctr">
                    <a:lnL w="0">
                      <a:noFill/>
                    </a:lnL>
                    <a:lnR w="12700">
                      <a:solidFill>
                        <a:srgbClr val="27302B"/>
                      </a:solidFill>
                    </a:lnR>
                    <a:lnT w="12700" cap="flat" cmpd="sng" algn="ctr">
                      <a:solidFill>
                        <a:srgbClr val="27302B"/>
                      </a:solidFill>
                      <a:prstDash val="solid"/>
                      <a:round/>
                      <a:headEnd type="none" w="med" len="med"/>
                      <a:tailEnd type="none" w="med" len="med"/>
                    </a:lnT>
                    <a:lnB w="0">
                      <a:noFill/>
                    </a:lnB>
                    <a:solidFill>
                      <a:srgbClr val="FCF7EC"/>
                    </a:solidFill>
                  </a:tcPr>
                </a:tc>
                <a:extLst>
                  <a:ext uri="{0D108BD9-81ED-4DB2-BD59-A6C34878D82A}">
                    <a16:rowId xmlns:a16="http://schemas.microsoft.com/office/drawing/2014/main" val="934757020"/>
                  </a:ext>
                </a:extLst>
              </a:tr>
              <a:tr h="0">
                <a:tc>
                  <a:txBody>
                    <a:bodyPr/>
                    <a:lstStyle/>
                    <a:p>
                      <a:pPr>
                        <a:buNone/>
                      </a:pPr>
                      <a:r>
                        <a:rPr lang="en-US">
                          <a:solidFill>
                            <a:srgbClr val="27302B"/>
                          </a:solidFill>
                        </a:rPr>
                        <a:t>Random Forest</a:t>
                      </a:r>
                    </a:p>
                  </a:txBody>
                  <a:tcPr anchor="ctr">
                    <a:lnL w="12700">
                      <a:solidFill>
                        <a:srgbClr val="27302B"/>
                      </a:solidFill>
                    </a:lnL>
                    <a:lnR w="12700">
                      <a:solidFill>
                        <a:srgbClr val="27302B"/>
                      </a:solidFill>
                    </a:lnR>
                    <a:lnT w="0">
                      <a:noFill/>
                    </a:lnT>
                    <a:lnB w="0">
                      <a:noFill/>
                    </a:lnB>
                    <a:solidFill>
                      <a:srgbClr val="FCF7EC"/>
                    </a:solidFill>
                  </a:tcPr>
                </a:tc>
                <a:tc>
                  <a:txBody>
                    <a:bodyPr/>
                    <a:lstStyle/>
                    <a:p>
                      <a:pPr>
                        <a:buNone/>
                      </a:pPr>
                      <a:r>
                        <a:rPr lang="en-US">
                          <a:solidFill>
                            <a:srgbClr val="27302B"/>
                          </a:solidFill>
                        </a:rPr>
                        <a:t>~58%</a:t>
                      </a:r>
                    </a:p>
                  </a:txBody>
                  <a:tcPr anchor="ctr">
                    <a:lnL w="12700">
                      <a:solidFill>
                        <a:srgbClr val="27302B"/>
                      </a:solidFill>
                    </a:lnL>
                    <a:lnR w="0">
                      <a:noFill/>
                    </a:lnR>
                    <a:lnT w="0">
                      <a:noFill/>
                    </a:lnT>
                    <a:lnB w="0">
                      <a:noFill/>
                    </a:lnB>
                    <a:solidFill>
                      <a:srgbClr val="FCF7EC"/>
                    </a:solidFill>
                  </a:tcPr>
                </a:tc>
                <a:tc>
                  <a:txBody>
                    <a:bodyPr/>
                    <a:lstStyle/>
                    <a:p>
                      <a:pPr>
                        <a:buNone/>
                      </a:pPr>
                      <a:r>
                        <a:rPr lang="en-US">
                          <a:solidFill>
                            <a:srgbClr val="27302B"/>
                          </a:solidFill>
                        </a:rPr>
                        <a:t>~0.61</a:t>
                      </a:r>
                    </a:p>
                  </a:txBody>
                  <a:tcPr anchor="ctr">
                    <a:lnL w="0">
                      <a:noFill/>
                    </a:lnL>
                    <a:lnR w="0">
                      <a:noFill/>
                    </a:lnR>
                    <a:lnT w="0">
                      <a:noFill/>
                    </a:lnT>
                    <a:lnB w="0">
                      <a:noFill/>
                    </a:lnB>
                    <a:solidFill>
                      <a:srgbClr val="FCF7EC"/>
                    </a:solidFill>
                  </a:tcPr>
                </a:tc>
                <a:tc>
                  <a:txBody>
                    <a:bodyPr/>
                    <a:lstStyle/>
                    <a:p>
                      <a:pPr>
                        <a:buNone/>
                      </a:pPr>
                      <a:r>
                        <a:rPr lang="en-US">
                          <a:solidFill>
                            <a:srgbClr val="27302B"/>
                          </a:solidFill>
                        </a:rPr>
                        <a:t>3-day smoothed</a:t>
                      </a:r>
                    </a:p>
                  </a:txBody>
                  <a:tcPr anchor="ctr">
                    <a:lnL w="0">
                      <a:noFill/>
                    </a:lnL>
                    <a:lnR w="12700">
                      <a:solidFill>
                        <a:srgbClr val="27302B"/>
                      </a:solidFill>
                    </a:lnR>
                    <a:lnT w="0">
                      <a:noFill/>
                    </a:lnT>
                    <a:lnB w="0">
                      <a:noFill/>
                    </a:lnB>
                    <a:solidFill>
                      <a:srgbClr val="FCF7EC"/>
                    </a:solidFill>
                  </a:tcPr>
                </a:tc>
                <a:extLst>
                  <a:ext uri="{0D108BD9-81ED-4DB2-BD59-A6C34878D82A}">
                    <a16:rowId xmlns:a16="http://schemas.microsoft.com/office/drawing/2014/main" val="1408176513"/>
                  </a:ext>
                </a:extLst>
              </a:tr>
              <a:tr h="0">
                <a:tc>
                  <a:txBody>
                    <a:bodyPr/>
                    <a:lstStyle/>
                    <a:p>
                      <a:pPr>
                        <a:buNone/>
                      </a:pPr>
                      <a:r>
                        <a:rPr lang="en-US" err="1">
                          <a:solidFill>
                            <a:srgbClr val="27302B"/>
                          </a:solidFill>
                        </a:rPr>
                        <a:t>XGBoost</a:t>
                      </a:r>
                    </a:p>
                  </a:txBody>
                  <a:tcPr anchor="ctr">
                    <a:lnL w="12700">
                      <a:solidFill>
                        <a:srgbClr val="27302B"/>
                      </a:solidFill>
                    </a:lnL>
                    <a:lnR w="12700">
                      <a:solidFill>
                        <a:srgbClr val="27302B"/>
                      </a:solidFill>
                    </a:lnR>
                    <a:lnT w="0">
                      <a:noFill/>
                    </a:lnT>
                    <a:lnB w="12700">
                      <a:solidFill>
                        <a:srgbClr val="27302B"/>
                      </a:solidFill>
                    </a:lnB>
                    <a:solidFill>
                      <a:srgbClr val="FCF7EC"/>
                    </a:solidFill>
                  </a:tcPr>
                </a:tc>
                <a:tc>
                  <a:txBody>
                    <a:bodyPr/>
                    <a:lstStyle/>
                    <a:p>
                      <a:pPr>
                        <a:buNone/>
                      </a:pPr>
                      <a:r>
                        <a:rPr lang="en-US" b="1">
                          <a:solidFill>
                            <a:srgbClr val="27302B"/>
                          </a:solidFill>
                        </a:rPr>
                        <a:t>64.3%</a:t>
                      </a:r>
                      <a:endParaRPr lang="en-US">
                        <a:solidFill>
                          <a:srgbClr val="27302B"/>
                        </a:solidFill>
                      </a:endParaRPr>
                    </a:p>
                  </a:txBody>
                  <a:tcPr anchor="ctr">
                    <a:lnL w="12700">
                      <a:solidFill>
                        <a:srgbClr val="27302B"/>
                      </a:solidFill>
                    </a:lnL>
                    <a:lnR w="0">
                      <a:noFill/>
                    </a:lnR>
                    <a:lnT w="0">
                      <a:noFill/>
                    </a:lnT>
                    <a:lnB w="12700">
                      <a:solidFill>
                        <a:srgbClr val="27302B"/>
                      </a:solidFill>
                    </a:lnB>
                    <a:solidFill>
                      <a:srgbClr val="FCF7EC"/>
                    </a:solidFill>
                  </a:tcPr>
                </a:tc>
                <a:tc>
                  <a:txBody>
                    <a:bodyPr/>
                    <a:lstStyle/>
                    <a:p>
                      <a:pPr>
                        <a:buNone/>
                      </a:pPr>
                      <a:r>
                        <a:rPr lang="en-US" b="1">
                          <a:solidFill>
                            <a:srgbClr val="27302B"/>
                          </a:solidFill>
                        </a:rPr>
                        <a:t>0.665</a:t>
                      </a:r>
                      <a:endParaRPr lang="en-US">
                        <a:solidFill>
                          <a:srgbClr val="27302B"/>
                        </a:solidFill>
                      </a:endParaRPr>
                    </a:p>
                  </a:txBody>
                  <a:tcPr anchor="ctr">
                    <a:lnL w="0">
                      <a:noFill/>
                    </a:lnL>
                    <a:lnR w="0">
                      <a:noFill/>
                    </a:lnR>
                    <a:lnT w="0">
                      <a:noFill/>
                    </a:lnT>
                    <a:lnB w="12700">
                      <a:solidFill>
                        <a:srgbClr val="27302B"/>
                      </a:solidFill>
                    </a:lnB>
                    <a:solidFill>
                      <a:srgbClr val="FCF7EC"/>
                    </a:solidFill>
                  </a:tcPr>
                </a:tc>
                <a:tc>
                  <a:txBody>
                    <a:bodyPr/>
                    <a:lstStyle/>
                    <a:p>
                      <a:pPr>
                        <a:buNone/>
                      </a:pPr>
                      <a:r>
                        <a:rPr lang="en-US">
                          <a:solidFill>
                            <a:srgbClr val="27302B"/>
                          </a:solidFill>
                        </a:rPr>
                        <a:t>5-day cumulative</a:t>
                      </a:r>
                    </a:p>
                  </a:txBody>
                  <a:tcPr anchor="ctr">
                    <a:lnL w="0">
                      <a:noFill/>
                    </a:lnL>
                    <a:lnR w="12700">
                      <a:solidFill>
                        <a:srgbClr val="27302B"/>
                      </a:solidFill>
                    </a:lnR>
                    <a:lnT w="0">
                      <a:noFill/>
                    </a:lnT>
                    <a:lnB w="12700">
                      <a:solidFill>
                        <a:srgbClr val="27302B"/>
                      </a:solidFill>
                    </a:lnB>
                    <a:solidFill>
                      <a:srgbClr val="FCF7EC"/>
                    </a:solidFill>
                  </a:tcPr>
                </a:tc>
                <a:extLst>
                  <a:ext uri="{0D108BD9-81ED-4DB2-BD59-A6C34878D82A}">
                    <a16:rowId xmlns:a16="http://schemas.microsoft.com/office/drawing/2014/main" val="1472187309"/>
                  </a:ext>
                </a:extLst>
              </a:tr>
            </a:tbl>
          </a:graphicData>
        </a:graphic>
      </p:graphicFrame>
      <p:graphicFrame>
        <p:nvGraphicFramePr>
          <p:cNvPr id="9" name="Table 8">
            <a:extLst>
              <a:ext uri="{FF2B5EF4-FFF2-40B4-BE49-F238E27FC236}">
                <a16:creationId xmlns:a16="http://schemas.microsoft.com/office/drawing/2014/main" id="{50E80A49-BDA9-ED0B-3284-4987A40015C2}"/>
              </a:ext>
            </a:extLst>
          </p:cNvPr>
          <p:cNvGraphicFramePr>
            <a:graphicFrameLocks noGrp="1"/>
          </p:cNvGraphicFramePr>
          <p:nvPr>
            <p:extLst>
              <p:ext uri="{D42A27DB-BD31-4B8C-83A1-F6EECF244321}">
                <p14:modId xmlns:p14="http://schemas.microsoft.com/office/powerpoint/2010/main" val="1493104507"/>
              </p:ext>
            </p:extLst>
          </p:nvPr>
        </p:nvGraphicFramePr>
        <p:xfrm>
          <a:off x="741123" y="1549261"/>
          <a:ext cx="10724807" cy="1463040"/>
        </p:xfrm>
        <a:graphic>
          <a:graphicData uri="http://schemas.openxmlformats.org/drawingml/2006/table">
            <a:tbl>
              <a:tblPr bandRow="1">
                <a:tableStyleId>{5C22544A-7EE6-4342-B048-85BDC9FD1C3A}</a:tableStyleId>
              </a:tblPr>
              <a:tblGrid>
                <a:gridCol w="2600739">
                  <a:extLst>
                    <a:ext uri="{9D8B030D-6E8A-4147-A177-3AD203B41FA5}">
                      <a16:colId xmlns:a16="http://schemas.microsoft.com/office/drawing/2014/main" val="1240183459"/>
                    </a:ext>
                  </a:extLst>
                </a:gridCol>
                <a:gridCol w="2426570">
                  <a:extLst>
                    <a:ext uri="{9D8B030D-6E8A-4147-A177-3AD203B41FA5}">
                      <a16:colId xmlns:a16="http://schemas.microsoft.com/office/drawing/2014/main" val="540257818"/>
                    </a:ext>
                  </a:extLst>
                </a:gridCol>
                <a:gridCol w="2277483">
                  <a:extLst>
                    <a:ext uri="{9D8B030D-6E8A-4147-A177-3AD203B41FA5}">
                      <a16:colId xmlns:a16="http://schemas.microsoft.com/office/drawing/2014/main" val="1160032332"/>
                    </a:ext>
                  </a:extLst>
                </a:gridCol>
                <a:gridCol w="1532048">
                  <a:extLst>
                    <a:ext uri="{9D8B030D-6E8A-4147-A177-3AD203B41FA5}">
                      <a16:colId xmlns:a16="http://schemas.microsoft.com/office/drawing/2014/main" val="1213442900"/>
                    </a:ext>
                  </a:extLst>
                </a:gridCol>
                <a:gridCol w="1887967">
                  <a:extLst>
                    <a:ext uri="{9D8B030D-6E8A-4147-A177-3AD203B41FA5}">
                      <a16:colId xmlns:a16="http://schemas.microsoft.com/office/drawing/2014/main" val="3121334106"/>
                    </a:ext>
                  </a:extLst>
                </a:gridCol>
              </a:tblGrid>
              <a:tr h="0">
                <a:tc>
                  <a:txBody>
                    <a:bodyPr/>
                    <a:lstStyle/>
                    <a:p>
                      <a:pPr>
                        <a:buNone/>
                      </a:pPr>
                      <a:r>
                        <a:rPr lang="en-US"/>
                        <a:t>Model</a:t>
                      </a:r>
                    </a:p>
                  </a:txBody>
                  <a:tcPr anchor="ctr">
                    <a:lnL w="12700">
                      <a:solidFill>
                        <a:srgbClr val="27302B"/>
                      </a:solidFill>
                    </a:lnL>
                    <a:lnR w="12700">
                      <a:solidFill>
                        <a:srgbClr val="27302B"/>
                      </a:solidFill>
                    </a:lnR>
                    <a:lnT w="12700">
                      <a:solidFill>
                        <a:srgbClr val="27302B"/>
                      </a:solidFill>
                    </a:lnT>
                    <a:lnB w="12700">
                      <a:solidFill>
                        <a:srgbClr val="27302B"/>
                      </a:solidFill>
                    </a:lnB>
                    <a:solidFill>
                      <a:srgbClr val="FCF7EC"/>
                    </a:solidFill>
                  </a:tcPr>
                </a:tc>
                <a:tc>
                  <a:txBody>
                    <a:bodyPr/>
                    <a:lstStyle/>
                    <a:p>
                      <a:pPr>
                        <a:buNone/>
                      </a:pPr>
                      <a:r>
                        <a:rPr lang="en-US"/>
                        <a:t>F1-score (class 0)</a:t>
                      </a:r>
                    </a:p>
                  </a:txBody>
                  <a:tcPr anchor="ctr">
                    <a:lnL w="12700">
                      <a:solidFill>
                        <a:srgbClr val="27302B"/>
                      </a:solidFill>
                    </a:lnL>
                    <a:lnR>
                      <a:noFill/>
                    </a:lnR>
                    <a:lnT w="12700">
                      <a:solidFill>
                        <a:srgbClr val="27302B"/>
                      </a:solidFill>
                    </a:lnT>
                    <a:lnB w="12700">
                      <a:solidFill>
                        <a:srgbClr val="27302B"/>
                      </a:solidFill>
                    </a:lnB>
                    <a:solidFill>
                      <a:srgbClr val="FCF7EC"/>
                    </a:solidFill>
                  </a:tcPr>
                </a:tc>
                <a:tc>
                  <a:txBody>
                    <a:bodyPr/>
                    <a:lstStyle/>
                    <a:p>
                      <a:pPr>
                        <a:buNone/>
                      </a:pPr>
                      <a:r>
                        <a:rPr lang="en-US"/>
                        <a:t>F1-score (class 1)</a:t>
                      </a:r>
                    </a:p>
                  </a:txBody>
                  <a:tcPr anchor="ctr">
                    <a:lnL>
                      <a:noFill/>
                    </a:lnL>
                    <a:lnR>
                      <a:noFill/>
                    </a:lnR>
                    <a:lnT w="12700">
                      <a:solidFill>
                        <a:srgbClr val="27302B"/>
                      </a:solidFill>
                    </a:lnT>
                    <a:lnB w="12700">
                      <a:solidFill>
                        <a:srgbClr val="27302B"/>
                      </a:solidFill>
                    </a:lnB>
                    <a:solidFill>
                      <a:srgbClr val="FCF7EC"/>
                    </a:solidFill>
                  </a:tcPr>
                </a:tc>
                <a:tc>
                  <a:txBody>
                    <a:bodyPr/>
                    <a:lstStyle/>
                    <a:p>
                      <a:pPr>
                        <a:buNone/>
                      </a:pPr>
                      <a:r>
                        <a:rPr lang="en-US"/>
                        <a:t>Macro F1</a:t>
                      </a:r>
                    </a:p>
                  </a:txBody>
                  <a:tcPr anchor="ctr">
                    <a:lnL>
                      <a:noFill/>
                    </a:lnL>
                    <a:lnR>
                      <a:noFill/>
                    </a:lnR>
                    <a:lnT w="12700">
                      <a:solidFill>
                        <a:srgbClr val="27302B"/>
                      </a:solidFill>
                    </a:lnT>
                    <a:lnB w="12700">
                      <a:solidFill>
                        <a:srgbClr val="27302B"/>
                      </a:solidFill>
                    </a:lnB>
                    <a:solidFill>
                      <a:srgbClr val="FCF7EC"/>
                    </a:solidFill>
                  </a:tcPr>
                </a:tc>
                <a:tc>
                  <a:txBody>
                    <a:bodyPr/>
                    <a:lstStyle/>
                    <a:p>
                      <a:pPr>
                        <a:buNone/>
                      </a:pPr>
                      <a:r>
                        <a:rPr lang="en-US"/>
                        <a:t>Weighted F1</a:t>
                      </a:r>
                    </a:p>
                  </a:txBody>
                  <a:tcPr anchor="ctr">
                    <a:lnL>
                      <a:noFill/>
                    </a:lnL>
                    <a:lnR w="12700">
                      <a:solidFill>
                        <a:srgbClr val="27302B"/>
                      </a:solidFill>
                    </a:lnR>
                    <a:lnT w="12700">
                      <a:solidFill>
                        <a:srgbClr val="27302B"/>
                      </a:solidFill>
                    </a:lnT>
                    <a:lnB w="12700">
                      <a:solidFill>
                        <a:srgbClr val="27302B"/>
                      </a:solidFill>
                    </a:lnB>
                    <a:solidFill>
                      <a:srgbClr val="FCF7EC"/>
                    </a:solidFill>
                  </a:tcPr>
                </a:tc>
                <a:extLst>
                  <a:ext uri="{0D108BD9-81ED-4DB2-BD59-A6C34878D82A}">
                    <a16:rowId xmlns:a16="http://schemas.microsoft.com/office/drawing/2014/main" val="3906629768"/>
                  </a:ext>
                </a:extLst>
              </a:tr>
              <a:tr h="0">
                <a:tc>
                  <a:txBody>
                    <a:bodyPr/>
                    <a:lstStyle/>
                    <a:p>
                      <a:pPr>
                        <a:buNone/>
                      </a:pPr>
                      <a:r>
                        <a:rPr lang="en-US"/>
                        <a:t>Logistic Regression</a:t>
                      </a:r>
                    </a:p>
                  </a:txBody>
                  <a:tcPr anchor="ctr">
                    <a:lnL w="12700">
                      <a:solidFill>
                        <a:srgbClr val="27302B"/>
                      </a:solidFill>
                    </a:lnL>
                    <a:lnR w="12700">
                      <a:solidFill>
                        <a:srgbClr val="27302B"/>
                      </a:solidFill>
                    </a:lnR>
                    <a:lnT w="12700">
                      <a:solidFill>
                        <a:srgbClr val="27302B"/>
                      </a:solidFill>
                    </a:lnT>
                    <a:lnB>
                      <a:noFill/>
                    </a:lnB>
                    <a:solidFill>
                      <a:srgbClr val="FCF7EC"/>
                    </a:solidFill>
                  </a:tcPr>
                </a:tc>
                <a:tc>
                  <a:txBody>
                    <a:bodyPr/>
                    <a:lstStyle/>
                    <a:p>
                      <a:pPr>
                        <a:buNone/>
                      </a:pPr>
                      <a:r>
                        <a:rPr lang="en-US"/>
                        <a:t>0.50</a:t>
                      </a:r>
                    </a:p>
                  </a:txBody>
                  <a:tcPr anchor="ctr">
                    <a:lnL w="12700">
                      <a:solidFill>
                        <a:srgbClr val="27302B"/>
                      </a:solidFill>
                    </a:lnL>
                    <a:lnR>
                      <a:noFill/>
                    </a:lnR>
                    <a:lnT w="12700">
                      <a:solidFill>
                        <a:srgbClr val="27302B"/>
                      </a:solidFill>
                    </a:lnT>
                    <a:lnB>
                      <a:noFill/>
                    </a:lnB>
                    <a:solidFill>
                      <a:srgbClr val="FCF7EC"/>
                    </a:solidFill>
                  </a:tcPr>
                </a:tc>
                <a:tc>
                  <a:txBody>
                    <a:bodyPr/>
                    <a:lstStyle/>
                    <a:p>
                      <a:pPr>
                        <a:buNone/>
                      </a:pPr>
                      <a:r>
                        <a:rPr lang="en-US"/>
                        <a:t>0.48</a:t>
                      </a:r>
                    </a:p>
                  </a:txBody>
                  <a:tcPr anchor="ctr">
                    <a:lnL>
                      <a:noFill/>
                    </a:lnL>
                    <a:lnR>
                      <a:noFill/>
                    </a:lnR>
                    <a:lnT w="12700">
                      <a:solidFill>
                        <a:srgbClr val="27302B"/>
                      </a:solidFill>
                    </a:lnT>
                    <a:lnB>
                      <a:noFill/>
                    </a:lnB>
                    <a:solidFill>
                      <a:srgbClr val="FCF7EC"/>
                    </a:solidFill>
                  </a:tcPr>
                </a:tc>
                <a:tc>
                  <a:txBody>
                    <a:bodyPr/>
                    <a:lstStyle/>
                    <a:p>
                      <a:pPr>
                        <a:buNone/>
                      </a:pPr>
                      <a:r>
                        <a:rPr lang="en-US"/>
                        <a:t>0.49</a:t>
                      </a:r>
                    </a:p>
                  </a:txBody>
                  <a:tcPr anchor="ctr">
                    <a:lnL>
                      <a:noFill/>
                    </a:lnL>
                    <a:lnR>
                      <a:noFill/>
                    </a:lnR>
                    <a:lnT w="12700">
                      <a:solidFill>
                        <a:srgbClr val="27302B"/>
                      </a:solidFill>
                    </a:lnT>
                    <a:lnB>
                      <a:noFill/>
                    </a:lnB>
                    <a:solidFill>
                      <a:srgbClr val="FCF7EC"/>
                    </a:solidFill>
                  </a:tcPr>
                </a:tc>
                <a:tc>
                  <a:txBody>
                    <a:bodyPr/>
                    <a:lstStyle/>
                    <a:p>
                      <a:pPr>
                        <a:buNone/>
                      </a:pPr>
                      <a:r>
                        <a:rPr lang="en-US"/>
                        <a:t>0.49</a:t>
                      </a:r>
                    </a:p>
                  </a:txBody>
                  <a:tcPr anchor="ctr">
                    <a:lnL>
                      <a:noFill/>
                    </a:lnL>
                    <a:lnR w="12700">
                      <a:solidFill>
                        <a:srgbClr val="27302B"/>
                      </a:solidFill>
                    </a:lnR>
                    <a:lnT w="12700">
                      <a:solidFill>
                        <a:srgbClr val="27302B"/>
                      </a:solidFill>
                    </a:lnT>
                    <a:lnB>
                      <a:noFill/>
                    </a:lnB>
                    <a:solidFill>
                      <a:srgbClr val="FCF7EC"/>
                    </a:solidFill>
                  </a:tcPr>
                </a:tc>
                <a:extLst>
                  <a:ext uri="{0D108BD9-81ED-4DB2-BD59-A6C34878D82A}">
                    <a16:rowId xmlns:a16="http://schemas.microsoft.com/office/drawing/2014/main" val="1912570998"/>
                  </a:ext>
                </a:extLst>
              </a:tr>
              <a:tr h="0">
                <a:tc>
                  <a:txBody>
                    <a:bodyPr/>
                    <a:lstStyle/>
                    <a:p>
                      <a:pPr>
                        <a:buNone/>
                      </a:pPr>
                      <a:r>
                        <a:rPr lang="en-US"/>
                        <a:t>Random Forest</a:t>
                      </a:r>
                    </a:p>
                  </a:txBody>
                  <a:tcPr anchor="ctr">
                    <a:lnL w="12700">
                      <a:solidFill>
                        <a:srgbClr val="27302B"/>
                      </a:solidFill>
                    </a:lnL>
                    <a:lnR w="12700">
                      <a:solidFill>
                        <a:srgbClr val="27302B"/>
                      </a:solidFill>
                    </a:lnR>
                    <a:lnT>
                      <a:noFill/>
                    </a:lnT>
                    <a:lnB>
                      <a:noFill/>
                    </a:lnB>
                    <a:solidFill>
                      <a:srgbClr val="FCF7EC"/>
                    </a:solidFill>
                  </a:tcPr>
                </a:tc>
                <a:tc>
                  <a:txBody>
                    <a:bodyPr/>
                    <a:lstStyle/>
                    <a:p>
                      <a:pPr>
                        <a:buNone/>
                      </a:pPr>
                      <a:r>
                        <a:rPr lang="en-US" b="1"/>
                        <a:t>0.58</a:t>
                      </a:r>
                    </a:p>
                  </a:txBody>
                  <a:tcPr anchor="ctr">
                    <a:lnL w="12700">
                      <a:solidFill>
                        <a:srgbClr val="27302B"/>
                      </a:solidFill>
                    </a:lnL>
                    <a:lnR>
                      <a:noFill/>
                    </a:lnR>
                    <a:lnT>
                      <a:noFill/>
                    </a:lnT>
                    <a:lnB>
                      <a:noFill/>
                    </a:lnB>
                    <a:solidFill>
                      <a:srgbClr val="FCF7EC"/>
                    </a:solidFill>
                  </a:tcPr>
                </a:tc>
                <a:tc>
                  <a:txBody>
                    <a:bodyPr/>
                    <a:lstStyle/>
                    <a:p>
                      <a:pPr>
                        <a:buNone/>
                      </a:pPr>
                      <a:r>
                        <a:rPr lang="en-US"/>
                        <a:t>0.54</a:t>
                      </a:r>
                    </a:p>
                  </a:txBody>
                  <a:tcPr anchor="ctr">
                    <a:lnL>
                      <a:noFill/>
                    </a:lnL>
                    <a:lnR>
                      <a:noFill/>
                    </a:lnR>
                    <a:lnT>
                      <a:noFill/>
                    </a:lnT>
                    <a:lnB>
                      <a:noFill/>
                    </a:lnB>
                    <a:solidFill>
                      <a:srgbClr val="FCF7EC"/>
                    </a:solidFill>
                  </a:tcPr>
                </a:tc>
                <a:tc>
                  <a:txBody>
                    <a:bodyPr/>
                    <a:lstStyle/>
                    <a:p>
                      <a:pPr>
                        <a:buNone/>
                      </a:pPr>
                      <a:r>
                        <a:rPr lang="en-US"/>
                        <a:t>0.56</a:t>
                      </a:r>
                    </a:p>
                  </a:txBody>
                  <a:tcPr anchor="ctr">
                    <a:lnL>
                      <a:noFill/>
                    </a:lnL>
                    <a:lnR>
                      <a:noFill/>
                    </a:lnR>
                    <a:lnT>
                      <a:noFill/>
                    </a:lnT>
                    <a:lnB>
                      <a:noFill/>
                    </a:lnB>
                    <a:solidFill>
                      <a:srgbClr val="FCF7EC"/>
                    </a:solidFill>
                  </a:tcPr>
                </a:tc>
                <a:tc>
                  <a:txBody>
                    <a:bodyPr/>
                    <a:lstStyle/>
                    <a:p>
                      <a:pPr>
                        <a:buNone/>
                      </a:pPr>
                      <a:r>
                        <a:rPr lang="en-US"/>
                        <a:t>0.56</a:t>
                      </a:r>
                    </a:p>
                  </a:txBody>
                  <a:tcPr anchor="ctr">
                    <a:lnL>
                      <a:noFill/>
                    </a:lnL>
                    <a:lnR w="12700">
                      <a:solidFill>
                        <a:srgbClr val="27302B"/>
                      </a:solidFill>
                    </a:lnR>
                    <a:lnT>
                      <a:noFill/>
                    </a:lnT>
                    <a:lnB>
                      <a:noFill/>
                    </a:lnB>
                    <a:solidFill>
                      <a:srgbClr val="FCF7EC"/>
                    </a:solidFill>
                  </a:tcPr>
                </a:tc>
                <a:extLst>
                  <a:ext uri="{0D108BD9-81ED-4DB2-BD59-A6C34878D82A}">
                    <a16:rowId xmlns:a16="http://schemas.microsoft.com/office/drawing/2014/main" val="4120541408"/>
                  </a:ext>
                </a:extLst>
              </a:tr>
              <a:tr h="0">
                <a:tc>
                  <a:txBody>
                    <a:bodyPr/>
                    <a:lstStyle/>
                    <a:p>
                      <a:pPr>
                        <a:buNone/>
                      </a:pPr>
                      <a:r>
                        <a:rPr lang="en-US" err="1"/>
                        <a:t>XGBoost</a:t>
                      </a:r>
                    </a:p>
                  </a:txBody>
                  <a:tcPr anchor="ctr">
                    <a:lnL w="12700">
                      <a:solidFill>
                        <a:srgbClr val="27302B"/>
                      </a:solidFill>
                    </a:lnL>
                    <a:lnR w="12700">
                      <a:solidFill>
                        <a:srgbClr val="27302B"/>
                      </a:solidFill>
                    </a:lnR>
                    <a:lnT>
                      <a:noFill/>
                    </a:lnT>
                    <a:lnB w="12700">
                      <a:solidFill>
                        <a:srgbClr val="27302B"/>
                      </a:solidFill>
                    </a:lnB>
                    <a:solidFill>
                      <a:srgbClr val="FCF7EC"/>
                    </a:solidFill>
                  </a:tcPr>
                </a:tc>
                <a:tc>
                  <a:txBody>
                    <a:bodyPr/>
                    <a:lstStyle/>
                    <a:p>
                      <a:pPr>
                        <a:buNone/>
                      </a:pPr>
                      <a:r>
                        <a:rPr lang="en-US" b="0"/>
                        <a:t>0.56</a:t>
                      </a:r>
                    </a:p>
                  </a:txBody>
                  <a:tcPr anchor="ctr">
                    <a:lnL w="12700">
                      <a:solidFill>
                        <a:srgbClr val="27302B"/>
                      </a:solidFill>
                    </a:lnL>
                    <a:lnR>
                      <a:noFill/>
                    </a:lnR>
                    <a:lnT>
                      <a:noFill/>
                    </a:lnT>
                    <a:lnB w="12700">
                      <a:solidFill>
                        <a:srgbClr val="27302B"/>
                      </a:solidFill>
                    </a:lnB>
                    <a:solidFill>
                      <a:srgbClr val="FCF7EC"/>
                    </a:solidFill>
                  </a:tcPr>
                </a:tc>
                <a:tc>
                  <a:txBody>
                    <a:bodyPr/>
                    <a:lstStyle/>
                    <a:p>
                      <a:pPr>
                        <a:buNone/>
                      </a:pPr>
                      <a:r>
                        <a:rPr lang="en-US" b="1"/>
                        <a:t>0.70</a:t>
                      </a:r>
                    </a:p>
                  </a:txBody>
                  <a:tcPr anchor="ctr">
                    <a:lnL>
                      <a:noFill/>
                    </a:lnL>
                    <a:lnR>
                      <a:noFill/>
                    </a:lnR>
                    <a:lnT>
                      <a:noFill/>
                    </a:lnT>
                    <a:lnB w="12700">
                      <a:solidFill>
                        <a:srgbClr val="27302B"/>
                      </a:solidFill>
                    </a:lnB>
                    <a:solidFill>
                      <a:srgbClr val="FCF7EC"/>
                    </a:solidFill>
                  </a:tcPr>
                </a:tc>
                <a:tc>
                  <a:txBody>
                    <a:bodyPr/>
                    <a:lstStyle/>
                    <a:p>
                      <a:pPr>
                        <a:buNone/>
                      </a:pPr>
                      <a:r>
                        <a:rPr lang="en-US" b="1"/>
                        <a:t>0.63</a:t>
                      </a:r>
                    </a:p>
                  </a:txBody>
                  <a:tcPr anchor="ctr">
                    <a:lnL>
                      <a:noFill/>
                    </a:lnL>
                    <a:lnR>
                      <a:noFill/>
                    </a:lnR>
                    <a:lnT>
                      <a:noFill/>
                    </a:lnT>
                    <a:lnB w="12700">
                      <a:solidFill>
                        <a:srgbClr val="27302B"/>
                      </a:solidFill>
                    </a:lnB>
                    <a:solidFill>
                      <a:srgbClr val="FCF7EC"/>
                    </a:solidFill>
                  </a:tcPr>
                </a:tc>
                <a:tc>
                  <a:txBody>
                    <a:bodyPr/>
                    <a:lstStyle/>
                    <a:p>
                      <a:pPr>
                        <a:buNone/>
                      </a:pPr>
                      <a:r>
                        <a:rPr lang="en-US" b="1"/>
                        <a:t>0.64</a:t>
                      </a:r>
                    </a:p>
                  </a:txBody>
                  <a:tcPr anchor="ctr">
                    <a:lnL>
                      <a:noFill/>
                    </a:lnL>
                    <a:lnR w="12700">
                      <a:solidFill>
                        <a:srgbClr val="27302B"/>
                      </a:solidFill>
                    </a:lnR>
                    <a:lnT>
                      <a:noFill/>
                    </a:lnT>
                    <a:lnB w="12700">
                      <a:solidFill>
                        <a:srgbClr val="27302B"/>
                      </a:solidFill>
                    </a:lnB>
                    <a:solidFill>
                      <a:srgbClr val="FCF7EC"/>
                    </a:solidFill>
                  </a:tcPr>
                </a:tc>
                <a:extLst>
                  <a:ext uri="{0D108BD9-81ED-4DB2-BD59-A6C34878D82A}">
                    <a16:rowId xmlns:a16="http://schemas.microsoft.com/office/drawing/2014/main" val="2089500041"/>
                  </a:ext>
                </a:extLst>
              </a:tr>
            </a:tbl>
          </a:graphicData>
        </a:graphic>
      </p:graphicFrame>
      <p:sp>
        <p:nvSpPr>
          <p:cNvPr id="10" name="TextBox 9">
            <a:extLst>
              <a:ext uri="{FF2B5EF4-FFF2-40B4-BE49-F238E27FC236}">
                <a16:creationId xmlns:a16="http://schemas.microsoft.com/office/drawing/2014/main" id="{911EC432-837D-87A4-8982-1837504EE368}"/>
              </a:ext>
            </a:extLst>
          </p:cNvPr>
          <p:cNvSpPr txBox="1"/>
          <p:nvPr/>
        </p:nvSpPr>
        <p:spPr>
          <a:xfrm>
            <a:off x="475989" y="4922730"/>
            <a:ext cx="1141747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27302B"/>
                </a:solidFill>
              </a:rPr>
              <a:t>F1 improvement shows real predictive power:</a:t>
            </a:r>
            <a:r>
              <a:rPr lang="en-US">
                <a:solidFill>
                  <a:srgbClr val="27302B"/>
                </a:solidFill>
              </a:rPr>
              <a:t> from ~0.49 (Logistic Regression) → 0.63 (</a:t>
            </a:r>
            <a:r>
              <a:rPr lang="en-US" err="1">
                <a:solidFill>
                  <a:srgbClr val="27302B"/>
                </a:solidFill>
              </a:rPr>
              <a:t>XGBoost</a:t>
            </a:r>
            <a:r>
              <a:rPr lang="en-US">
                <a:solidFill>
                  <a:srgbClr val="27302B"/>
                </a:solidFill>
              </a:rPr>
              <a:t>)</a:t>
            </a:r>
          </a:p>
          <a:p>
            <a:r>
              <a:rPr lang="en-US" b="1">
                <a:solidFill>
                  <a:srgbClr val="27302B"/>
                </a:solidFill>
              </a:rPr>
              <a:t>Longer horizons help:</a:t>
            </a:r>
            <a:r>
              <a:rPr lang="en-US">
                <a:solidFill>
                  <a:srgbClr val="27302B"/>
                </a:solidFill>
              </a:rPr>
              <a:t> 5-day cumulative predictions outperform next-day forecasts</a:t>
            </a:r>
          </a:p>
          <a:p>
            <a:r>
              <a:rPr lang="en-US" b="1">
                <a:solidFill>
                  <a:srgbClr val="27302B"/>
                </a:solidFill>
              </a:rPr>
              <a:t>Feature engineering matters:</a:t>
            </a:r>
            <a:r>
              <a:rPr lang="en-US">
                <a:solidFill>
                  <a:srgbClr val="27302B"/>
                </a:solidFill>
              </a:rPr>
              <a:t> volatility, lagged returns, and rolling metrics drive performance beyond sentiment</a:t>
            </a:r>
          </a:p>
          <a:p>
            <a:r>
              <a:rPr lang="en-US" b="1">
                <a:solidFill>
                  <a:srgbClr val="27302B"/>
                </a:solidFill>
              </a:rPr>
              <a:t>Accuracy (~64%) supports the signal</a:t>
            </a:r>
            <a:r>
              <a:rPr lang="en-US">
                <a:solidFill>
                  <a:srgbClr val="27302B"/>
                </a:solidFill>
              </a:rPr>
              <a:t> but is secondary to F1</a:t>
            </a:r>
          </a:p>
          <a:p>
            <a:r>
              <a:rPr lang="en-US" b="1">
                <a:solidFill>
                  <a:srgbClr val="27302B"/>
                </a:solidFill>
              </a:rPr>
              <a:t>Market-aligned drivers:</a:t>
            </a:r>
            <a:r>
              <a:rPr lang="en-US">
                <a:solidFill>
                  <a:srgbClr val="27302B"/>
                </a:solidFill>
              </a:rPr>
              <a:t> Reddit sentiment often lags, </a:t>
            </a:r>
            <a:r>
              <a:rPr lang="en-US" err="1">
                <a:solidFill>
                  <a:srgbClr val="27302B"/>
                </a:solidFill>
              </a:rPr>
              <a:t>technicals</a:t>
            </a:r>
            <a:r>
              <a:rPr lang="en-US">
                <a:solidFill>
                  <a:srgbClr val="27302B"/>
                </a:solidFill>
              </a:rPr>
              <a:t> dominate short-term moves</a:t>
            </a:r>
          </a:p>
        </p:txBody>
      </p:sp>
    </p:spTree>
    <p:extLst>
      <p:ext uri="{BB962C8B-B14F-4D97-AF65-F5344CB8AC3E}">
        <p14:creationId xmlns:p14="http://schemas.microsoft.com/office/powerpoint/2010/main" val="3433509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CCBEA-B8BA-5CAC-D03D-79A1722C26E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5386C2B-0BB8-56FD-01E7-0C9E08DD0E92}"/>
              </a:ext>
            </a:extLst>
          </p:cNvPr>
          <p:cNvSpPr/>
          <p:nvPr/>
        </p:nvSpPr>
        <p:spPr>
          <a:xfrm>
            <a:off x="2735" y="3676368"/>
            <a:ext cx="12190631" cy="172915"/>
          </a:xfrm>
          <a:prstGeom prst="rect">
            <a:avLst/>
          </a:prstGeom>
          <a:solidFill>
            <a:srgbClr val="2730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3750965B-72FA-C14B-9DBF-040090BFB295}"/>
              </a:ext>
            </a:extLst>
          </p:cNvPr>
          <p:cNvSpPr/>
          <p:nvPr/>
        </p:nvSpPr>
        <p:spPr>
          <a:xfrm>
            <a:off x="507363" y="1474160"/>
            <a:ext cx="11285112" cy="4588098"/>
          </a:xfrm>
          <a:prstGeom prst="roundRect">
            <a:avLst/>
          </a:prstGeom>
          <a:solidFill>
            <a:srgbClr val="FCF7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2DA827-30A6-F68F-CC96-470762D92319}"/>
              </a:ext>
            </a:extLst>
          </p:cNvPr>
          <p:cNvSpPr>
            <a:spLocks noGrp="1"/>
          </p:cNvSpPr>
          <p:nvPr>
            <p:ph type="title"/>
          </p:nvPr>
        </p:nvSpPr>
        <p:spPr/>
        <p:txBody>
          <a:bodyPr>
            <a:normAutofit/>
          </a:bodyPr>
          <a:lstStyle/>
          <a:p>
            <a:r>
              <a:rPr lang="en-US" sz="4900">
                <a:solidFill>
                  <a:srgbClr val="27302B"/>
                </a:solidFill>
              </a:rPr>
              <a:t>Challenges</a:t>
            </a:r>
            <a:endParaRPr lang="en-US" sz="5400">
              <a:solidFill>
                <a:srgbClr val="27302B"/>
              </a:solidFill>
            </a:endParaRPr>
          </a:p>
        </p:txBody>
      </p:sp>
      <p:sp>
        <p:nvSpPr>
          <p:cNvPr id="3" name="Content Placeholder 2">
            <a:extLst>
              <a:ext uri="{FF2B5EF4-FFF2-40B4-BE49-F238E27FC236}">
                <a16:creationId xmlns:a16="http://schemas.microsoft.com/office/drawing/2014/main" id="{DD0BDC81-BFAE-5B2C-2378-62D3E4504F32}"/>
              </a:ext>
            </a:extLst>
          </p:cNvPr>
          <p:cNvSpPr>
            <a:spLocks noGrp="1"/>
          </p:cNvSpPr>
          <p:nvPr>
            <p:ph idx="1"/>
          </p:nvPr>
        </p:nvSpPr>
        <p:spPr>
          <a:xfrm>
            <a:off x="844797" y="1558648"/>
            <a:ext cx="11040859" cy="4477145"/>
          </a:xfrm>
        </p:spPr>
        <p:txBody>
          <a:bodyPr vert="horz" lIns="91440" tIns="45720" rIns="91440" bIns="45720" rtlCol="0" anchor="t">
            <a:noAutofit/>
          </a:bodyPr>
          <a:lstStyle/>
          <a:p>
            <a:pPr marL="0" indent="0">
              <a:buNone/>
            </a:pPr>
            <a:endParaRPr lang="en-US" b="1">
              <a:solidFill>
                <a:srgbClr val="27302B"/>
              </a:solidFill>
              <a:ea typeface="+mn-lt"/>
              <a:cs typeface="+mn-lt"/>
            </a:endParaRPr>
          </a:p>
          <a:p>
            <a:pPr marL="0" indent="0">
              <a:buNone/>
            </a:pPr>
            <a:r>
              <a:rPr lang="en-US" b="1">
                <a:solidFill>
                  <a:srgbClr val="27302B"/>
                </a:solidFill>
                <a:ea typeface="+mn-lt"/>
                <a:cs typeface="+mn-lt"/>
              </a:rPr>
              <a:t>Market complexity &amp; noise:</a:t>
            </a:r>
            <a:r>
              <a:rPr lang="en-US">
                <a:solidFill>
                  <a:srgbClr val="27302B"/>
                </a:solidFill>
                <a:ea typeface="+mn-lt"/>
                <a:cs typeface="+mn-lt"/>
              </a:rPr>
              <a:t> Reddit sentiment competes with meme-driven hype, macro shocks, and overlapping news, making its true price impact hard to isolate.</a:t>
            </a:r>
            <a:endParaRPr lang="en-US">
              <a:ea typeface="+mn-lt"/>
              <a:cs typeface="+mn-lt"/>
            </a:endParaRPr>
          </a:p>
          <a:p>
            <a:pPr marL="0" indent="0">
              <a:buNone/>
            </a:pPr>
            <a:r>
              <a:rPr lang="en-US" b="1">
                <a:solidFill>
                  <a:srgbClr val="27302B"/>
                </a:solidFill>
                <a:ea typeface="+mn-lt"/>
                <a:cs typeface="+mn-lt"/>
              </a:rPr>
              <a:t>Ambiguity in sentiment labeling:</a:t>
            </a:r>
            <a:r>
              <a:rPr lang="en-US">
                <a:solidFill>
                  <a:srgbClr val="27302B"/>
                </a:solidFill>
                <a:ea typeface="+mn-lt"/>
                <a:cs typeface="+mn-lt"/>
              </a:rPr>
              <a:t> Slang, irony, and implicit cues (“diamond hands,” “paper hands”) complicate consistent labeling compared to formal news.</a:t>
            </a:r>
          </a:p>
          <a:p>
            <a:pPr marL="0" indent="0">
              <a:buNone/>
            </a:pPr>
            <a:r>
              <a:rPr lang="en-US" b="1">
                <a:solidFill>
                  <a:srgbClr val="27302B"/>
                </a:solidFill>
                <a:ea typeface="+mn-lt"/>
                <a:cs typeface="+mn-lt"/>
              </a:rPr>
              <a:t>Overfitting risks:</a:t>
            </a:r>
            <a:r>
              <a:rPr lang="en-US">
                <a:solidFill>
                  <a:srgbClr val="27302B"/>
                </a:solidFill>
                <a:ea typeface="+mn-lt"/>
                <a:cs typeface="+mn-lt"/>
              </a:rPr>
              <a:t> </a:t>
            </a:r>
            <a:r>
              <a:rPr lang="en-US" err="1">
                <a:solidFill>
                  <a:srgbClr val="27302B"/>
                </a:solidFill>
                <a:ea typeface="+mn-lt"/>
                <a:cs typeface="+mn-lt"/>
              </a:rPr>
              <a:t>FinBERT</a:t>
            </a:r>
            <a:r>
              <a:rPr lang="en-US">
                <a:solidFill>
                  <a:srgbClr val="27302B"/>
                </a:solidFill>
                <a:ea typeface="+mn-lt"/>
                <a:cs typeface="+mn-lt"/>
              </a:rPr>
              <a:t> and other transformers may learn spurious correlations from small, noisy Reddit datasets.</a:t>
            </a:r>
          </a:p>
          <a:p>
            <a:pPr marL="0" indent="0">
              <a:buNone/>
            </a:pPr>
            <a:r>
              <a:rPr lang="en-US" b="1">
                <a:solidFill>
                  <a:srgbClr val="27302B"/>
                </a:solidFill>
                <a:ea typeface="+mn-lt"/>
                <a:cs typeface="+mn-lt"/>
              </a:rPr>
              <a:t>Data volatility:</a:t>
            </a:r>
            <a:r>
              <a:rPr lang="en-US">
                <a:solidFill>
                  <a:srgbClr val="27302B"/>
                </a:solidFill>
                <a:ea typeface="+mn-lt"/>
                <a:cs typeface="+mn-lt"/>
              </a:rPr>
              <a:t> Discussion volume and tone swing sharply around events (earnings, scandals, short squeezes), weakening signal stability.</a:t>
            </a:r>
          </a:p>
        </p:txBody>
      </p:sp>
    </p:spTree>
    <p:extLst>
      <p:ext uri="{BB962C8B-B14F-4D97-AF65-F5344CB8AC3E}">
        <p14:creationId xmlns:p14="http://schemas.microsoft.com/office/powerpoint/2010/main" val="3173156635"/>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C106B-26DD-4B67-F795-1412F6DFF76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4DFAFA5-922E-3BCE-7F09-85241FD738CD}"/>
              </a:ext>
            </a:extLst>
          </p:cNvPr>
          <p:cNvSpPr/>
          <p:nvPr/>
        </p:nvSpPr>
        <p:spPr>
          <a:xfrm>
            <a:off x="2735" y="3676368"/>
            <a:ext cx="12190631" cy="172915"/>
          </a:xfrm>
          <a:prstGeom prst="rect">
            <a:avLst/>
          </a:prstGeom>
          <a:solidFill>
            <a:srgbClr val="2730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97678F5F-A82A-4550-0391-7412E66ED4B0}"/>
              </a:ext>
            </a:extLst>
          </p:cNvPr>
          <p:cNvSpPr/>
          <p:nvPr/>
        </p:nvSpPr>
        <p:spPr>
          <a:xfrm>
            <a:off x="569993" y="1505475"/>
            <a:ext cx="11159852" cy="5026509"/>
          </a:xfrm>
          <a:prstGeom prst="roundRect">
            <a:avLst/>
          </a:prstGeom>
          <a:solidFill>
            <a:srgbClr val="FCF7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01751A-E74A-D082-082C-C30C48F54330}"/>
              </a:ext>
            </a:extLst>
          </p:cNvPr>
          <p:cNvSpPr>
            <a:spLocks noGrp="1"/>
          </p:cNvSpPr>
          <p:nvPr>
            <p:ph type="title"/>
          </p:nvPr>
        </p:nvSpPr>
        <p:spPr/>
        <p:txBody>
          <a:bodyPr>
            <a:normAutofit/>
          </a:bodyPr>
          <a:lstStyle/>
          <a:p>
            <a:r>
              <a:rPr lang="en-US" sz="4800">
                <a:solidFill>
                  <a:srgbClr val="27302B"/>
                </a:solidFill>
              </a:rPr>
              <a:t>Takeaways</a:t>
            </a:r>
          </a:p>
        </p:txBody>
      </p:sp>
      <p:sp>
        <p:nvSpPr>
          <p:cNvPr id="10" name="Content Placeholder 9">
            <a:extLst>
              <a:ext uri="{FF2B5EF4-FFF2-40B4-BE49-F238E27FC236}">
                <a16:creationId xmlns:a16="http://schemas.microsoft.com/office/drawing/2014/main" id="{2B7DE54D-B8A7-4985-9654-FD36742AB144}"/>
              </a:ext>
            </a:extLst>
          </p:cNvPr>
          <p:cNvSpPr>
            <a:spLocks noGrp="1"/>
          </p:cNvSpPr>
          <p:nvPr>
            <p:ph idx="1"/>
          </p:nvPr>
        </p:nvSpPr>
        <p:spPr>
          <a:xfrm>
            <a:off x="1155441" y="1767723"/>
            <a:ext cx="10653579" cy="4593828"/>
          </a:xfrm>
        </p:spPr>
        <p:txBody>
          <a:bodyPr vert="horz" lIns="91440" tIns="45720" rIns="91440" bIns="45720" rtlCol="0" anchor="t">
            <a:noAutofit/>
          </a:bodyPr>
          <a:lstStyle/>
          <a:p>
            <a:pPr marL="0" indent="0">
              <a:buNone/>
            </a:pPr>
            <a:r>
              <a:rPr lang="en-US" b="1">
                <a:ea typeface="+mn-lt"/>
                <a:cs typeface="+mn-lt"/>
              </a:rPr>
              <a:t>Reddit sentiment explains market dynamics:</a:t>
            </a:r>
            <a:r>
              <a:rPr lang="en-US">
                <a:ea typeface="+mn-lt"/>
                <a:cs typeface="+mn-lt"/>
              </a:rPr>
              <a:t> Posts and comments capture retail investor psychology, meme-driven hype, and short-term price movements that fundamentals alone miss.</a:t>
            </a:r>
            <a:endParaRPr lang="en-US"/>
          </a:p>
          <a:p>
            <a:pPr marL="0" indent="0">
              <a:buNone/>
            </a:pPr>
            <a:r>
              <a:rPr lang="en-US" b="1">
                <a:ea typeface="+mn-lt"/>
                <a:cs typeface="+mn-lt"/>
              </a:rPr>
              <a:t>Advanced NLP adds value:</a:t>
            </a:r>
            <a:r>
              <a:rPr lang="en-US">
                <a:ea typeface="+mn-lt"/>
                <a:cs typeface="+mn-lt"/>
              </a:rPr>
              <a:t> Transformers like </a:t>
            </a:r>
            <a:r>
              <a:rPr lang="en-US" err="1">
                <a:ea typeface="+mn-lt"/>
                <a:cs typeface="+mn-lt"/>
              </a:rPr>
              <a:t>FinBERT</a:t>
            </a:r>
            <a:r>
              <a:rPr lang="en-US">
                <a:ea typeface="+mn-lt"/>
                <a:cs typeface="+mn-lt"/>
              </a:rPr>
              <a:t> or fine-tuned financial models interpret slang, irony, and context in Reddit discussions better than simple lexicon approaches.</a:t>
            </a:r>
          </a:p>
          <a:p>
            <a:pPr marL="0" indent="0">
              <a:buNone/>
            </a:pPr>
            <a:r>
              <a:rPr lang="en-US" b="1">
                <a:ea typeface="+mn-lt"/>
                <a:cs typeface="+mn-lt"/>
              </a:rPr>
              <a:t>Filtering enhances reliability:</a:t>
            </a:r>
            <a:r>
              <a:rPr lang="en-US">
                <a:ea typeface="+mn-lt"/>
                <a:cs typeface="+mn-lt"/>
              </a:rPr>
              <a:t> Focusing on extreme sentiment days or key events (e.g., earnings, short squeezes) uncovers stronger, more consistent correlations with stock returns.</a:t>
            </a:r>
          </a:p>
          <a:p>
            <a:pPr marL="0" indent="0">
              <a:buNone/>
            </a:pPr>
            <a:r>
              <a:rPr lang="en-US" b="1">
                <a:ea typeface="+mn-lt"/>
                <a:cs typeface="+mn-lt"/>
              </a:rPr>
              <a:t>Correlation has limits:</a:t>
            </a:r>
            <a:r>
              <a:rPr lang="en-US">
                <a:ea typeface="+mn-lt"/>
                <a:cs typeface="+mn-lt"/>
              </a:rPr>
              <a:t> Simple correlations between Reddit sentiment and returns understate the nuanced impact of social media-driven market behavior.</a:t>
            </a:r>
            <a:endParaRPr lang="en-US"/>
          </a:p>
          <a:p>
            <a:pPr marL="0" indent="0">
              <a:buNone/>
            </a:pPr>
            <a:endParaRPr lang="en-US"/>
          </a:p>
        </p:txBody>
      </p:sp>
    </p:spTree>
    <p:extLst>
      <p:ext uri="{BB962C8B-B14F-4D97-AF65-F5344CB8AC3E}">
        <p14:creationId xmlns:p14="http://schemas.microsoft.com/office/powerpoint/2010/main" val="4210360254"/>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7622B28-E7C0-01A2-C4DF-636B6B98B45D}"/>
              </a:ext>
            </a:extLst>
          </p:cNvPr>
          <p:cNvSpPr/>
          <p:nvPr/>
        </p:nvSpPr>
        <p:spPr>
          <a:xfrm>
            <a:off x="2735" y="3676368"/>
            <a:ext cx="12190631" cy="172915"/>
          </a:xfrm>
          <a:prstGeom prst="rect">
            <a:avLst/>
          </a:prstGeom>
          <a:solidFill>
            <a:srgbClr val="2730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D04779-1376-AF56-376B-701CA2625A12}"/>
              </a:ext>
            </a:extLst>
          </p:cNvPr>
          <p:cNvSpPr>
            <a:spLocks noGrp="1"/>
          </p:cNvSpPr>
          <p:nvPr>
            <p:ph type="title"/>
          </p:nvPr>
        </p:nvSpPr>
        <p:spPr/>
        <p:txBody>
          <a:bodyPr/>
          <a:lstStyle/>
          <a:p>
            <a:r>
              <a:rPr lang="en-US" sz="4800" dirty="0">
                <a:solidFill>
                  <a:srgbClr val="27302B"/>
                </a:solidFill>
              </a:rPr>
              <a:t>Future Directions</a:t>
            </a:r>
            <a:endParaRPr lang="en-US" sz="4800" b="0" dirty="0"/>
          </a:p>
        </p:txBody>
      </p:sp>
      <p:sp>
        <p:nvSpPr>
          <p:cNvPr id="4" name="Date Placeholder 3">
            <a:extLst>
              <a:ext uri="{FF2B5EF4-FFF2-40B4-BE49-F238E27FC236}">
                <a16:creationId xmlns:a16="http://schemas.microsoft.com/office/drawing/2014/main" id="{96ECDD2F-5A05-BE2B-EF57-9E9C0405DE3E}"/>
              </a:ext>
            </a:extLst>
          </p:cNvPr>
          <p:cNvSpPr>
            <a:spLocks noGrp="1"/>
          </p:cNvSpPr>
          <p:nvPr>
            <p:ph type="dt" sz="half" idx="10"/>
          </p:nvPr>
        </p:nvSpPr>
        <p:spPr/>
        <p:txBody>
          <a:bodyPr/>
          <a:lstStyle/>
          <a:p>
            <a:fld id="{36FF0651-EB81-4AE2-ACB6-6D155B7D86B7}" type="datetime1">
              <a:rPr lang="en-US"/>
              <a:t>11/16/2025</a:t>
            </a:fld>
            <a:endParaRPr lang="en-US"/>
          </a:p>
        </p:txBody>
      </p:sp>
      <p:sp>
        <p:nvSpPr>
          <p:cNvPr id="10" name="Rectangle: Rounded Corners 9">
            <a:extLst>
              <a:ext uri="{FF2B5EF4-FFF2-40B4-BE49-F238E27FC236}">
                <a16:creationId xmlns:a16="http://schemas.microsoft.com/office/drawing/2014/main" id="{9E9BA132-E47E-635C-7BCF-CD13693FD2A6}"/>
              </a:ext>
            </a:extLst>
          </p:cNvPr>
          <p:cNvSpPr/>
          <p:nvPr/>
        </p:nvSpPr>
        <p:spPr>
          <a:xfrm>
            <a:off x="569993" y="1474160"/>
            <a:ext cx="11253797" cy="4149688"/>
          </a:xfrm>
          <a:prstGeom prst="roundRect">
            <a:avLst/>
          </a:prstGeom>
          <a:solidFill>
            <a:srgbClr val="FCF7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9">
            <a:extLst>
              <a:ext uri="{FF2B5EF4-FFF2-40B4-BE49-F238E27FC236}">
                <a16:creationId xmlns:a16="http://schemas.microsoft.com/office/drawing/2014/main" id="{39BE616D-473F-4D17-E6F2-21C82110998F}"/>
              </a:ext>
            </a:extLst>
          </p:cNvPr>
          <p:cNvSpPr txBox="1">
            <a:spLocks/>
          </p:cNvSpPr>
          <p:nvPr/>
        </p:nvSpPr>
        <p:spPr>
          <a:xfrm>
            <a:off x="915360" y="1757286"/>
            <a:ext cx="10653579" cy="3884020"/>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ea typeface="+mn-lt"/>
                <a:cs typeface="+mn-lt"/>
              </a:rPr>
              <a:t>Broaden dataset scope:</a:t>
            </a:r>
            <a:r>
              <a:rPr lang="en-US" dirty="0">
                <a:ea typeface="+mn-lt"/>
                <a:cs typeface="+mn-lt"/>
              </a:rPr>
              <a:t> Incorporate longer time periods, multiple tickers, and cross-market data to test generalizability of Reddit-driven sentiment signals.</a:t>
            </a:r>
            <a:endParaRPr lang="en-US" dirty="0"/>
          </a:p>
          <a:p>
            <a:pPr marL="0" indent="0">
              <a:buNone/>
            </a:pPr>
            <a:r>
              <a:rPr lang="en-US" b="1" dirty="0">
                <a:ea typeface="+mn-lt"/>
                <a:cs typeface="+mn-lt"/>
              </a:rPr>
              <a:t>Causal and event-focused analysis:</a:t>
            </a:r>
            <a:r>
              <a:rPr lang="en-US" dirty="0">
                <a:ea typeface="+mn-lt"/>
                <a:cs typeface="+mn-lt"/>
              </a:rPr>
              <a:t> Use event-study methods or Granger causality to isolate sentiment effects around earnings, short squeezes, or viral posts.</a:t>
            </a:r>
          </a:p>
          <a:p>
            <a:pPr marL="0" indent="0">
              <a:buNone/>
            </a:pPr>
            <a:r>
              <a:rPr lang="en-US" b="1" dirty="0">
                <a:ea typeface="+mn-lt"/>
                <a:cs typeface="+mn-lt"/>
              </a:rPr>
              <a:t>Hybrid signal integration:</a:t>
            </a:r>
            <a:r>
              <a:rPr lang="en-US" dirty="0">
                <a:ea typeface="+mn-lt"/>
                <a:cs typeface="+mn-lt"/>
              </a:rPr>
              <a:t> Combine Reddit sentiment with market microstructure data (volatility, trading volume, order flow) to improve predictive power.</a:t>
            </a:r>
          </a:p>
          <a:p>
            <a:pPr marL="0" indent="0">
              <a:buNone/>
            </a:pPr>
            <a:r>
              <a:rPr lang="en-US" b="1" dirty="0">
                <a:ea typeface="+mn-lt"/>
                <a:cs typeface="+mn-lt"/>
              </a:rPr>
              <a:t>Enhance NLP models:</a:t>
            </a:r>
            <a:r>
              <a:rPr lang="en-US" dirty="0">
                <a:ea typeface="+mn-lt"/>
                <a:cs typeface="+mn-lt"/>
              </a:rPr>
              <a:t> Fine-tune context-aware models to handle informal, meme-heavy language and domain-specific slang typical of Reddit discussions.</a:t>
            </a:r>
          </a:p>
        </p:txBody>
      </p:sp>
    </p:spTree>
    <p:extLst>
      <p:ext uri="{BB962C8B-B14F-4D97-AF65-F5344CB8AC3E}">
        <p14:creationId xmlns:p14="http://schemas.microsoft.com/office/powerpoint/2010/main" val="4117174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96E04-9915-0FC2-E3AD-4369FAF680A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5DEE3B1-1ADC-B5E6-1E56-D228E6213F6C}"/>
              </a:ext>
            </a:extLst>
          </p:cNvPr>
          <p:cNvSpPr/>
          <p:nvPr/>
        </p:nvSpPr>
        <p:spPr>
          <a:xfrm>
            <a:off x="9085" y="2522131"/>
            <a:ext cx="12187775" cy="1821594"/>
          </a:xfrm>
          <a:prstGeom prst="rect">
            <a:avLst/>
          </a:prstGeom>
          <a:solidFill>
            <a:srgbClr val="2730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1A782F-1798-5B81-088E-FD449046D50E}"/>
              </a:ext>
            </a:extLst>
          </p:cNvPr>
          <p:cNvSpPr>
            <a:spLocks noGrp="1"/>
          </p:cNvSpPr>
          <p:nvPr>
            <p:ph type="title"/>
          </p:nvPr>
        </p:nvSpPr>
        <p:spPr>
          <a:xfrm>
            <a:off x="521208" y="2700737"/>
            <a:ext cx="11155680" cy="1463040"/>
          </a:xfrm>
        </p:spPr>
        <p:txBody>
          <a:bodyPr vert="horz" lIns="91440" tIns="45720" rIns="91440" bIns="45720" rtlCol="0" anchor="ctr">
            <a:noAutofit/>
          </a:bodyPr>
          <a:lstStyle/>
          <a:p>
            <a:pPr algn="ctr"/>
            <a:r>
              <a:rPr lang="en-US" sz="5400">
                <a:solidFill>
                  <a:schemeClr val="bg1"/>
                </a:solidFill>
              </a:rPr>
              <a:t>Thank You! </a:t>
            </a:r>
            <a:br>
              <a:rPr lang="en-US" sz="5400"/>
            </a:br>
            <a:r>
              <a:rPr lang="en-US" sz="5400">
                <a:solidFill>
                  <a:schemeClr val="bg1"/>
                </a:solidFill>
              </a:rPr>
              <a:t>Questions?</a:t>
            </a:r>
          </a:p>
        </p:txBody>
      </p:sp>
      <p:sp>
        <p:nvSpPr>
          <p:cNvPr id="4" name="Rectangle 3">
            <a:extLst>
              <a:ext uri="{FF2B5EF4-FFF2-40B4-BE49-F238E27FC236}">
                <a16:creationId xmlns:a16="http://schemas.microsoft.com/office/drawing/2014/main" id="{91E9CEF6-0DA4-71C0-50A1-97ED7DDFBC6F}"/>
              </a:ext>
            </a:extLst>
          </p:cNvPr>
          <p:cNvSpPr/>
          <p:nvPr/>
        </p:nvSpPr>
        <p:spPr>
          <a:xfrm>
            <a:off x="-7703" y="492669"/>
            <a:ext cx="12190631" cy="172915"/>
          </a:xfrm>
          <a:prstGeom prst="rect">
            <a:avLst/>
          </a:prstGeom>
          <a:solidFill>
            <a:srgbClr val="2730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5710549"/>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3642</Words>
  <Application>Microsoft Office PowerPoint</Application>
  <PresentationFormat>Widescreen</PresentationFormat>
  <Paragraphs>224</Paragraphs>
  <Slides>17</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Arial,Sans-Serif</vt:lpstr>
      <vt:lpstr>Calibri</vt:lpstr>
      <vt:lpstr>Courier New</vt:lpstr>
      <vt:lpstr>Neue Haas Grotesk Text Pro</vt:lpstr>
      <vt:lpstr>VanillaVTI</vt:lpstr>
      <vt:lpstr>Reddit Sentiment Analysis and Financial Market Correlations</vt:lpstr>
      <vt:lpstr>Content Map</vt:lpstr>
      <vt:lpstr>Introduction and Motivation</vt:lpstr>
      <vt:lpstr>Reddit Post Data Collection </vt:lpstr>
      <vt:lpstr>Financial Data Collection </vt:lpstr>
      <vt:lpstr>Exploratory Data Analysis</vt:lpstr>
      <vt:lpstr>Experimental Results  </vt:lpstr>
      <vt:lpstr>Experimental Results  </vt:lpstr>
      <vt:lpstr>Experimental Results  </vt:lpstr>
      <vt:lpstr>Experimented Results</vt:lpstr>
      <vt:lpstr>Experimented Results</vt:lpstr>
      <vt:lpstr>Methodology (Cont.)</vt:lpstr>
      <vt:lpstr>Experimental Results (Cont.)</vt:lpstr>
      <vt:lpstr>Challenges</vt:lpstr>
      <vt:lpstr>Takeaways</vt:lpstr>
      <vt:lpstr>Future Directions</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Extracting Affect Aggregates from Longitudinal Social Media Data with Temporal Adapters for Large Language Models</dc:title>
  <dc:creator>Steven Nguyen</dc:creator>
  <cp:lastModifiedBy>Nguyen,Steven</cp:lastModifiedBy>
  <cp:revision>2</cp:revision>
  <dcterms:created xsi:type="dcterms:W3CDTF">2025-07-01T15:34:00Z</dcterms:created>
  <dcterms:modified xsi:type="dcterms:W3CDTF">2025-11-16T18:07:35Z</dcterms:modified>
</cp:coreProperties>
</file>